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6"/>
  </p:notesMasterIdLst>
  <p:sldIdLst>
    <p:sldId id="264" r:id="rId43"/>
    <p:sldId id="265" r:id="rId44"/>
    <p:sldId id="266" r:id="rId45"/>
    <p:sldId id="267" r:id="rId46"/>
    <p:sldId id="270" r:id="rId47"/>
    <p:sldId id="274" r:id="rId48"/>
    <p:sldId id="275" r:id="rId49"/>
    <p:sldId id="277" r:id="rId50"/>
    <p:sldId id="279" r:id="rId51"/>
    <p:sldId id="280" r:id="rId52"/>
    <p:sldId id="281" r:id="rId53"/>
    <p:sldId id="282" r:id="rId54"/>
    <p:sldId id="283" r:id="rId55"/>
    <p:sldId id="287" r:id="rId56"/>
    <p:sldId id="288" r:id="rId57"/>
    <p:sldId id="289" r:id="rId58"/>
    <p:sldId id="290" r:id="rId59"/>
    <p:sldId id="291" r:id="rId60"/>
    <p:sldId id="292" r:id="rId61"/>
    <p:sldId id="293" r:id="rId62"/>
    <p:sldId id="294" r:id="rId63"/>
    <p:sldId id="295" r:id="rId64"/>
    <p:sldId id="296" r:id="rId65"/>
    <p:sldId id="297" r:id="rId66"/>
    <p:sldId id="298" r:id="rId67"/>
    <p:sldId id="299" r:id="rId68"/>
    <p:sldId id="300" r:id="rId69"/>
    <p:sldId id="301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05F374B-B71B-4F8E-910E-C41289AFC80A}">
          <p14:sldIdLst>
            <p14:sldId id="380"/>
            <p14:sldId id="374"/>
            <p14:sldId id="1781"/>
            <p14:sldId id="273"/>
          </p14:sldIdLst>
        </p14:section>
        <p14:section name="Investment Areas overview" id="{29E7002F-F0A3-4E11-AD5B-28A9286A1E74}">
          <p14:sldIdLst>
            <p14:sldId id="259"/>
          </p14:sldIdLst>
        </p14:section>
        <p14:section name="Build solutions faster and more naturally" id="{47F4D207-C8FB-4648-8CE8-F869B15B2D64}">
          <p14:sldIdLst>
            <p14:sldId id="2147483640"/>
            <p14:sldId id="260"/>
            <p14:sldId id="269"/>
            <p14:sldId id="2147483626"/>
            <p14:sldId id="276"/>
            <p14:sldId id="284"/>
          </p14:sldIdLst>
        </p14:section>
        <p14:section name="Transform complete business processes" id="{5CD2E342-9134-43E2-9B02-C2148374EFEB}">
          <p14:sldIdLst>
            <p14:sldId id="263"/>
            <p14:sldId id="258"/>
            <p14:sldId id="271"/>
            <p14:sldId id="2147483645"/>
            <p14:sldId id="262"/>
            <p14:sldId id="2147483622"/>
            <p14:sldId id="268"/>
          </p14:sldIdLst>
        </p14:section>
        <p14:section name="Build with confidence at enterprise scale" id="{BA189A29-AD09-4704-BF5A-1FEC85849982}">
          <p14:sldIdLst>
            <p14:sldId id="285"/>
            <p14:sldId id="286"/>
            <p14:sldId id="278"/>
            <p14:sldId id="261"/>
            <p14:sldId id="257"/>
          </p14:sldIdLst>
        </p14:section>
        <p14:section name="Scale value with transparency and control" id="{C8ECAB8E-4DB0-48F2-933F-AF22D5BB7212}">
          <p14:sldIdLst>
            <p14:sldId id="1800"/>
            <p14:sldId id="1818"/>
            <p14:sldId id="1832"/>
            <p14:sldId id="2147483647"/>
            <p14:sldId id="1804"/>
            <p14:sldId id="1805"/>
            <p14:sldId id="256"/>
            <p14:sldId id="272"/>
          </p14:sldIdLst>
        </p14:section>
        <p14:section name="Feature Inventory" id="{78BFE7A2-CC47-4EDB-B4FF-07C6531BB19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57C9"/>
    <a:srgbClr val="DFD8EB"/>
    <a:srgbClr val="E6D8EB"/>
    <a:srgbClr val="7541C2"/>
    <a:srgbClr val="0876D3"/>
    <a:srgbClr val="5B4EC6"/>
    <a:srgbClr val="C644C3"/>
    <a:srgbClr val="FFF3E0"/>
    <a:srgbClr val="B76E00"/>
    <a:srgbClr val="C589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1D4DA9-5C0F-42E1-B8DB-B2AA149B9BA2}" v="223" dt="2026-10-06T16:28:09.7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2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microsoft.com/office/2015/10/relationships/revisionInfo" Target="revisionInfo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Relationship Id="rId67" Type="http://schemas.openxmlformats.org/officeDocument/2006/relationships/slide" Target="slides/slide56.xml"/><Relationship Id="rId68" Type="http://schemas.openxmlformats.org/officeDocument/2006/relationships/slide" Target="slides/slide57.xml"/><Relationship Id="rId69" Type="http://schemas.openxmlformats.org/officeDocument/2006/relationships/slide" Target="slides/slide58.xml"/><Relationship Id="rId70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632F97-FEDF-4969-BF0D-E2111EF294BF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6986A6-8FE9-4D27-9B25-41195E9568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52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1E0CA-DE35-F29D-3AE1-53087B45E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F2828B-096D-844C-3714-E78577242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B5927-BB15-6717-563D-AC81AE9E5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4AAC-DA05-4DF9-86B7-FEEBBD22FC9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A8DB7-F300-B3C9-32C2-722CF50EB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93713-2DCC-C295-E61C-FFE7C1F60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DD8A-DD70-4840-9812-11A63E286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18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8074E24-1C4D-BE5E-6FDB-4A71F09A6AB3}"/>
              </a:ext>
            </a:extLst>
          </p:cNvPr>
          <p:cNvSpPr/>
          <p:nvPr userDrawn="1"/>
        </p:nvSpPr>
        <p:spPr>
          <a:xfrm>
            <a:off x="-9525" y="0"/>
            <a:ext cx="12192000" cy="6721475"/>
          </a:xfrm>
          <a:prstGeom prst="rect">
            <a:avLst/>
          </a:prstGeom>
          <a:gradFill>
            <a:gsLst>
              <a:gs pos="27000">
                <a:srgbClr val="0876D3">
                  <a:alpha val="10000"/>
                  <a:lumMod val="100000"/>
                </a:srgbClr>
              </a:gs>
              <a:gs pos="96000">
                <a:srgbClr val="FE9A63">
                  <a:alpha val="10000"/>
                </a:srgbClr>
              </a:gs>
              <a:gs pos="10000">
                <a:srgbClr val="18BDE9">
                  <a:alpha val="10000"/>
                </a:srgbClr>
              </a:gs>
              <a:gs pos="67000">
                <a:srgbClr val="CA18B5">
                  <a:alpha val="10000"/>
                </a:srgb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31E0CA-DE35-F29D-3AE1-53087B45E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F2828B-096D-844C-3714-E78577242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i="0">
                <a:latin typeface="Segoe UI Variable Text" pitchFamily="2" charset="0"/>
                <a:cs typeface="Segoe UI Variable Text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B5927-BB15-6717-563D-AC81AE9E5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4AAC-DA05-4DF9-86B7-FEEBBD22FC9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A8DB7-F300-B3C9-32C2-722CF50EB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93713-2DCC-C295-E61C-FFE7C1F60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DD8A-DD70-4840-9812-11A63E2867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6141E3-3C8F-4614-68E0-A932CE1D8923}"/>
              </a:ext>
            </a:extLst>
          </p:cNvPr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41EF57-DB51-A64F-A613-71CB18AEBB9A}"/>
              </a:ext>
            </a:extLst>
          </p:cNvPr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41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E3939-C041-CCCF-629A-2F71D9FCC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EF4FD-3741-3873-DFCE-CFD5568F1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C0F63-19B2-F8E7-A5F9-3E3F7E64A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4AAC-DA05-4DF9-86B7-FEEBBD22FC9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D22A8-F9B7-E977-EC0F-88FED8F7B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49EBF-4F42-824D-D236-56B1F0039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DD8A-DD70-4840-9812-11A63E286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686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B224B-2B85-F8F8-024A-B70228481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64FA4-0821-8285-E48A-0DD544304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37B5A-AADF-B735-000B-A31562CE9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4AAC-DA05-4DF9-86B7-FEEBBD22FC9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E7561-99DD-4B23-4A65-299BBD605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BE079-A272-E38F-7E7B-A48A3662A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DD8A-DD70-4840-9812-11A63E286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13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B7E9A-9C62-1F88-5B36-EDDA3FF0E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A0711-1C71-D011-00B0-30C23C0431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66CA89-A0BB-7139-5220-47A5F22DE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411F5-75A3-439A-9353-8939EBCE3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4AAC-DA05-4DF9-86B7-FEEBBD22FC9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F51D2-2F00-4D71-0B42-7F7F864C3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6B2F5-B7FA-44B1-97FE-7C28D811E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DD8A-DD70-4840-9812-11A63E286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51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D0BC5-647C-3AD9-44EB-4439D03EC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3A2EF-A5C3-BFB8-61E8-2EE34447B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529119-FAA9-9184-5041-B7F7CF8F2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F9D798-BB68-457D-B37C-A41BE7113D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E807E5-8150-DA65-6EE0-D11F537A18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B4BAA-A7D7-F1F6-5E4B-DFC768145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4AAC-DA05-4DF9-86B7-FEEBBD22FC9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8D3200-FA4B-1D53-3D7C-A1432267F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9569F0-EE5D-DAFD-E0E4-6DFAE51F1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DD8A-DD70-4840-9812-11A63E286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777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E48D3-D493-1C5A-0783-BC5407321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41C406-AB74-3582-E67A-813EE2E30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4AAC-DA05-4DF9-86B7-FEEBBD22FC9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1F8799-8D5D-7499-6AD3-D65B13798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AF11B1-34EB-EAA2-8B2A-B2DF2F5BD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DD8A-DD70-4840-9812-11A63E286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39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2733C7-34B2-6120-6EB6-F73A6676B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4AAC-DA05-4DF9-86B7-FEEBBD22FC9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581B57-911F-7618-4B98-CD54215A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F6DAD-E812-2C59-1D91-3E7FEB636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DD8A-DD70-4840-9812-11A63E286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31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29804-1D5A-D032-89F8-B87CCF73E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7EB1A-C3B5-BE0F-7A8C-22D5783C5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9771FC-6DE5-A29B-F7DB-9133ACBA78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1499D-B115-1B2A-56A7-D333A29B8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4AAC-DA05-4DF9-86B7-FEEBBD22FC9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BA001-A2AD-7331-9B2B-36403C2B0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E9489-7E66-C2DE-E2E0-32FBF7A15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DD8A-DD70-4840-9812-11A63E286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74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B56D9-466D-71EF-E323-D38A78F60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E789D9-9C39-E81B-9717-4D653C82B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1B53E-AA3E-FEC4-DAF8-DC33E5F3A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94E5F-96A0-C90D-DC4D-3E7EDC763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4AAC-DA05-4DF9-86B7-FEEBBD22FC9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59F70-ACE4-1069-877B-B17ABE551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F2200-B357-6A6C-25FF-4EBCB9F5A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DD8A-DD70-4840-9812-11A63E286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56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DDE0F-BD86-5BA5-350D-6C2484E1A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77CCDE-7BFD-A18E-B9B3-153524DE5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C9F86-B6F8-B3F8-BB2B-A51C47221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4AAC-DA05-4DF9-86B7-FEEBBD22FC9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8708-E093-8D82-40B2-EEBABB94C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50409-9AC5-9A07-3954-072FB5532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DD8A-DD70-4840-9812-11A63E286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022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2ABD8E-997A-442B-871F-CAB89D602C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91016-C7D9-310D-26AD-2664504E9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AB9F5-086D-06C9-EF87-783CDAF76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54AAC-DA05-4DF9-86B7-FEEBBD22FC9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40B3A-F1D4-75BC-D1AB-83094C0DD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5A13C-E220-3578-C04A-1356DDFE3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DD8A-DD70-4840-9812-11A63E286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500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creensho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0BE56-F0EE-EEDB-42B9-3EC933E0D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740" y="1591056"/>
            <a:ext cx="3409188" cy="738664"/>
          </a:xfrm>
        </p:spPr>
        <p:txBody>
          <a:bodyPr/>
          <a:lstStyle>
            <a:lvl1pPr>
              <a:defRPr sz="2400" b="1" i="0"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544726-BAF2-8A79-8DCC-0EDFFC5009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296400" y="6427471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49A1B1-5A8E-4E46-95DF-CCAC78182983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91F2C"/>
                </a:solidFill>
                <a:effectLst/>
                <a:uLnTx/>
                <a:uFillTx/>
                <a:latin typeface="Segoe Sans Display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91F2C"/>
              </a:solidFill>
              <a:effectLst/>
              <a:uLnTx/>
              <a:uFillTx/>
              <a:latin typeface="Segoe Sans Display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836FD6-F41C-9243-9F5B-90E2178E0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085184" y="0"/>
            <a:ext cx="710681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Variable Text" pitchFamily="2" charset="0"/>
              <a:ea typeface="Segoe UI" pitchFamily="34" charset="0"/>
              <a:cs typeface="Segoe UI Variable Tex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72107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B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4A5DDC46-131E-1932-E5FF-2DB33DAECB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21900" y="-558800"/>
            <a:ext cx="2070100" cy="330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anchor="ctr"/>
          <a:lstStyle>
            <a:lvl1pPr marL="0" indent="0" algn="r">
              <a:buNone/>
              <a:defRPr sz="1400" b="0" i="0">
                <a:solidFill>
                  <a:schemeClr val="bg1">
                    <a:lumMod val="50000"/>
                  </a:schemeClr>
                </a:solidFill>
                <a:latin typeface="Segoe UI Variable Text" pitchFamily="2" charset="0"/>
                <a:cs typeface="Segoe UI Variable Text" pitchFamily="2" charset="0"/>
              </a:defRPr>
            </a:lvl1pPr>
            <a:lvl2pPr marL="457200" indent="0">
              <a:buNone/>
              <a:defRPr sz="1000" b="0" i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400" indent="0">
              <a:buNone/>
              <a:defRPr sz="1000" b="0" i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600" indent="0">
              <a:buNone/>
              <a:defRPr sz="1000" b="0" i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800" indent="0">
              <a:buNone/>
              <a:defRPr sz="1000" b="0" i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2566241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5" pos="1440">
          <p15:clr>
            <a:srgbClr val="547EBF"/>
          </p15:clr>
        </p15:guide>
        <p15:guide id="17" pos="1632">
          <p15:clr>
            <a:srgbClr val="547EBF"/>
          </p15:clr>
        </p15:guide>
        <p15:guide id="19" pos="2208">
          <p15:clr>
            <a:srgbClr val="A4A3A4"/>
          </p15:clr>
        </p15:guide>
        <p15:guide id="20" pos="2592">
          <p15:clr>
            <a:srgbClr val="547EBF"/>
          </p15:clr>
        </p15:guide>
        <p15:guide id="22" pos="3744">
          <p15:clr>
            <a:srgbClr val="547EBF"/>
          </p15:clr>
        </p15:guide>
        <p15:guide id="23" pos="3168">
          <p15:clr>
            <a:srgbClr val="A4A3A4"/>
          </p15:clr>
        </p15:guide>
        <p15:guide id="24" pos="3360">
          <p15:clr>
            <a:srgbClr val="A4A3A4"/>
          </p15:clr>
        </p15:guide>
        <p15:guide id="25" pos="3936">
          <p15:clr>
            <a:srgbClr val="547EBF"/>
          </p15:clr>
        </p15:guide>
        <p15:guide id="27" pos="4320">
          <p15:clr>
            <a:srgbClr val="A4A3A4"/>
          </p15:clr>
        </p15:guide>
        <p15:guide id="28" pos="4512">
          <p15:clr>
            <a:srgbClr val="A4A3A4"/>
          </p15:clr>
        </p15:guide>
        <p15:guide id="29" pos="4896">
          <p15:clr>
            <a:srgbClr val="547EBF"/>
          </p15:clr>
        </p15:guide>
        <p15:guide id="30" pos="5088">
          <p15:clr>
            <a:srgbClr val="547EBF"/>
          </p15:clr>
        </p15:guide>
        <p15:guide id="32" pos="5472">
          <p15:clr>
            <a:srgbClr val="A4A3A4"/>
          </p15:clr>
        </p15:guide>
        <p15:guide id="33" pos="6048">
          <p15:clr>
            <a:srgbClr val="547EBF"/>
          </p15:clr>
        </p15:guide>
        <p15:guide id="39" pos="5664">
          <p15:clr>
            <a:srgbClr val="A4A3A4"/>
          </p15:clr>
        </p15:guide>
        <p15:guide id="45" pos="1056">
          <p15:clr>
            <a:srgbClr val="A4A3A4"/>
          </p15:clr>
        </p15:guide>
        <p15:guide id="48" pos="864">
          <p15:clr>
            <a:srgbClr val="A4A3A4"/>
          </p15:clr>
        </p15:guide>
        <p15:guide id="49" pos="2016">
          <p15:clr>
            <a:srgbClr val="A4A3A4"/>
          </p15:clr>
        </p15:guide>
        <p15:guide id="50" pos="2784">
          <p15:clr>
            <a:srgbClr val="547EBF"/>
          </p15:clr>
        </p15:guide>
        <p15:guide id="51" pos="6624">
          <p15:clr>
            <a:srgbClr val="A4A3A4"/>
          </p15:clr>
        </p15:guide>
        <p15:guide id="57" pos="6240">
          <p15:clr>
            <a:srgbClr val="547EBF"/>
          </p15:clr>
        </p15:guide>
        <p15:guide id="58" pos="6816">
          <p15:clr>
            <a:srgbClr val="A4A3A4"/>
          </p15:clr>
        </p15:guide>
        <p15:guide id="59" orient="horz" pos="816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_Gre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AFA402C-3A07-54C4-3A7F-F60B564A98AF}"/>
              </a:ext>
            </a:extLst>
          </p:cNvPr>
          <p:cNvSpPr txBox="1">
            <a:spLocks/>
          </p:cNvSpPr>
          <p:nvPr userDrawn="1"/>
        </p:nvSpPr>
        <p:spPr>
          <a:xfrm>
            <a:off x="11516135" y="75083"/>
            <a:ext cx="413657" cy="10772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fld id="{F649A1B1-5A8E-4E46-95DF-CCAC78182983}" type="slidenum">
              <a:rPr lang="en-US" sz="700" smtClean="0">
                <a:solidFill>
                  <a:schemeClr val="bg1">
                    <a:lumMod val="50000"/>
                  </a:schemeClr>
                </a:solidFill>
                <a:latin typeface="Segoe Sans Display"/>
              </a:rPr>
              <a:pPr algn="r">
                <a:defRPr/>
              </a:pPr>
              <a:t>‹#›</a:t>
            </a:fld>
            <a:endParaRPr lang="en-US" sz="700">
              <a:solidFill>
                <a:schemeClr val="bg1">
                  <a:lumMod val="50000"/>
                </a:schemeClr>
              </a:solidFill>
              <a:latin typeface="Segoe San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646054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60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639542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53BD1E-7DAA-AABD-674D-623A1208C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4374D-9640-9814-7BFE-EAE2B5247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C24DD-3D9F-918E-5A07-9E37EE5407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254AAC-DA05-4DF9-86B7-FEEBBD22FC9D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62FC6-72C0-9A41-F37E-2E32EF10C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4B08F-ABA8-2B55-544A-9C96A6B1F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5DD8A-DD70-4840-9812-11A63E2867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027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6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75" r:id="rId13"/>
    <p:sldLayoutId id="2147483677" r:id="rId14"/>
    <p:sldLayoutId id="2147483678" r:id="rId15"/>
    <p:sldLayoutId id="214748367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sv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sv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sv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8.png"/></Relationships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A60DBA37-6D35-5B8B-0BE0-DAD8C8C25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08148"/>
            <a:ext cx="9144000" cy="959039"/>
          </a:xfrm>
        </p:spPr>
        <p:txBody>
          <a:bodyPr>
            <a:noAutofit/>
          </a:bodyPr>
          <a:lstStyle/>
          <a:p>
            <a:r>
              <a:rPr lang="en-US" b="1">
                <a:latin typeface="Segoe UI Variable Display Semibold" pitchFamily="2" charset="0"/>
                <a:cs typeface="Segoe UI Variable Display Semibold" pitchFamily="2" charset="0"/>
              </a:rPr>
              <a:t>Agentes externos en Microsoft 365 Copilot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67D3C9-1BD4-AFA7-BF6C-7A4B99D8F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9263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Segoe UI Variable Text"/>
                <a:cs typeface="Segoe UI Variable Text"/>
              </a:rPr>
              <a:t>Tres patrones de integración con Microsoft 365 Agents SDK · Octubre 2026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1ABD44D-2C3A-996A-EC62-2A639DCD16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58631" y="1622098"/>
            <a:ext cx="1074738" cy="107473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Rectangle 23">
            <a:extLst>
              <a:ext uri="{FF2B5EF4-FFF2-40B4-BE49-F238E27FC236}">
                <a16:creationId xmlns:a16="http://schemas.microsoft.com/office/drawing/2014/main" id="{C7954D6D-8D5B-E8C6-DE7E-FE7952541210}"/>
              </a:ext>
            </a:extLst>
          </p:cNvPr>
          <p:cNvSpPr/>
          <p:nvPr/>
        </p:nvSpPr>
        <p:spPr>
          <a:xfrm>
            <a:off x="0" y="-14693"/>
            <a:ext cx="12192000" cy="152400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420624" y="3474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gradFill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0" scaled="0"/>
                </a:gradFill>
                <a:latin typeface="Segoe UI Variable Display Semibold"/>
              </a:rPr>
              <a:t>Visión general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" y="621792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egoe UI Variable Display Semibold"/>
              </a:rPr>
              <a:t>Tres agentes, tres patrones de integración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" y="117043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El usuario trabaja en Copilot o Teams; el agente vive donde ya está desplegado y no se reescribe.</a:t>
            </a:r>
          </a:p>
        </p:txBody>
      </p:sp>
      <p:sp>
        <p:nvSpPr>
          <p:cNvPr id="28" name="Oval 27"/>
          <p:cNvSpPr/>
          <p:nvPr/>
        </p:nvSpPr>
        <p:spPr>
          <a:xfrm>
            <a:off x="2240280" y="178308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2011680"/>
            <a:ext cx="3429000" cy="868680"/>
          </a:xfrm>
          <a:prstGeom prst="roundRect">
            <a:avLst>
              <a:gd name="adj" fmla="val 18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121408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Renewal Risk Analyst</a:t>
            </a:r>
          </a:p>
          <a:p>
            <a:pPr algn="ctr">
              <a:spcBef>
                <a:spcPts val="200"/>
              </a:spcBef>
            </a:pPr>
            <a:r>
              <a:rPr sz="1000" b="1">
                <a:solidFill>
                  <a:srgbClr val="1A1A1A"/>
                </a:solidFill>
                <a:latin typeface="Segoe UI"/>
              </a:rPr>
              <a:t>Puente directo a GCP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3017520"/>
            <a:ext cx="3429000" cy="3063240"/>
          </a:xfrm>
          <a:prstGeom prst="roundRect">
            <a:avLst>
              <a:gd name="adj" fmla="val 7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3200400"/>
            <a:ext cx="30175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Agente ADK en </a:t>
            </a:r>
            <a:r>
              <a:rPr sz="1200" b="1">
                <a:solidFill>
                  <a:srgbClr val="091F2C"/>
                </a:solidFill>
                <a:latin typeface="Segoe UI Variable Text"/>
              </a:rPr>
              <a:t>Vertex AI Agent Engine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Puente con Agents SDK en ACA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Llama a la API REST de Agent Engine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Federación Azure → GCP sin claves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Análisis de 20 a 150 s</a:t>
            </a:r>
          </a:p>
        </p:txBody>
      </p:sp>
      <p:sp>
        <p:nvSpPr>
          <p:cNvPr id="33" name="Oval 32"/>
          <p:cNvSpPr/>
          <p:nvPr/>
        </p:nvSpPr>
        <p:spPr>
          <a:xfrm>
            <a:off x="5943600" y="178308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59" y="2011680"/>
            <a:ext cx="3429000" cy="868680"/>
          </a:xfrm>
          <a:prstGeom prst="roundRect">
            <a:avLst>
              <a:gd name="adj" fmla="val 18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2121408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Renewal Risk Analyst (MCP)</a:t>
            </a:r>
          </a:p>
          <a:p>
            <a:pPr algn="ctr">
              <a:spcBef>
                <a:spcPts val="200"/>
              </a:spcBef>
            </a:pPr>
            <a:r>
              <a:rPr sz="1000" b="1">
                <a:solidFill>
                  <a:srgbClr val="1A1A1A"/>
                </a:solidFill>
                <a:latin typeface="Segoe UI"/>
              </a:rPr>
              <a:t>El mismo agente, vía MCP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59" y="3017520"/>
            <a:ext cx="3429000" cy="3063240"/>
          </a:xfrm>
          <a:prstGeom prst="roundRect">
            <a:avLst>
              <a:gd name="adj" fmla="val 7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59" y="3200400"/>
            <a:ext cx="30175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Adaptador </a:t>
            </a:r>
            <a:r>
              <a:rPr sz="1200" b="1">
                <a:solidFill>
                  <a:srgbClr val="091F2C"/>
                </a:solidFill>
                <a:latin typeface="Segoe UI Variable Text"/>
              </a:rPr>
              <a:t>MCP en ACA</a:t>
            </a:r>
            <a:r>
              <a:rPr sz="1200" b="0">
                <a:solidFill>
                  <a:srgbClr val="091F2C"/>
                </a:solidFill>
                <a:latin typeface="Segoe UI Variable Text"/>
              </a:rPr>
              <a:t> (un MCP por agente)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El puente solo habla MCP con token Entra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Solo el MCP tiene acceso a GCP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Reutilizable por otros agentes (LangChain…)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Ingress interno</a:t>
            </a:r>
          </a:p>
        </p:txBody>
      </p:sp>
      <p:sp>
        <p:nvSpPr>
          <p:cNvPr id="38" name="Oval 37"/>
          <p:cNvSpPr/>
          <p:nvPr/>
        </p:nvSpPr>
        <p:spPr>
          <a:xfrm>
            <a:off x="9646919" y="178308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79" y="2011680"/>
            <a:ext cx="3429000" cy="868680"/>
          </a:xfrm>
          <a:prstGeom prst="roundRect">
            <a:avLst>
              <a:gd name="adj" fmla="val 18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2121408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Weather Assistant (LangChain)</a:t>
            </a:r>
          </a:p>
          <a:p>
            <a:pPr algn="ctr">
              <a:spcBef>
                <a:spcPts val="200"/>
              </a:spcBef>
            </a:pPr>
            <a:r>
              <a:rPr sz="1000" b="1">
                <a:solidFill>
                  <a:srgbClr val="1A1A1A"/>
                </a:solidFill>
                <a:latin typeface="Segoe UI"/>
              </a:rPr>
              <a:t>Agente LangChain en ACA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83879" y="3017520"/>
            <a:ext cx="3429000" cy="3063240"/>
          </a:xfrm>
          <a:prstGeom prst="roundRect">
            <a:avLst>
              <a:gd name="adj" fmla="val 7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0" y="3200400"/>
            <a:ext cx="30175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Agente </a:t>
            </a:r>
            <a:r>
              <a:rPr sz="1200" b="1">
                <a:solidFill>
                  <a:srgbClr val="091F2C"/>
                </a:solidFill>
                <a:latin typeface="Segoe UI Variable Text"/>
              </a:rPr>
              <a:t>LangChain</a:t>
            </a:r>
            <a:r>
              <a:rPr sz="1200" b="0">
                <a:solidFill>
                  <a:srgbClr val="091F2C"/>
                </a:solidFill>
                <a:latin typeface="Segoe UI Variable Text"/>
              </a:rPr>
              <a:t> expuesto por MCP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Puente en </a:t>
            </a:r>
            <a:r>
              <a:rPr sz="1200" b="1">
                <a:solidFill>
                  <a:srgbClr val="091F2C"/>
                </a:solidFill>
                <a:latin typeface="Segoe UI Variable Text"/>
              </a:rPr>
              <a:t>otro entorno ACA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MCP público protegido por Entra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gpt-5.6-luna (Foundry) + OpenAPI de OpenMeteo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Respuestas en 4–10 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EF7D7CF3-D8E3-3750-EA9E-B00F1D6899FD}"/>
              </a:ext>
            </a:extLst>
          </p:cNvPr>
          <p:cNvSpPr/>
          <p:nvPr/>
        </p:nvSpPr>
        <p:spPr>
          <a:xfrm rot="5400000">
            <a:off x="-3372356" y="3372356"/>
            <a:ext cx="6858000" cy="113288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20624" y="3474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gradFill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0" scaled="0"/>
                </a:gradFill>
                <a:latin typeface="Segoe UI Variable Display Semibold"/>
              </a:rPr>
              <a:t>Arquitectura común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21792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egoe UI Variable Display Semibold"/>
              </a:rPr>
              <a:t>Cómo llega un agente externo a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117043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Patrón «custom engine agent»: Copilot es la interfaz; la lógica del agente se queda en su plataforma.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91F2C"/>
                </a:solidFill>
                <a:latin typeface="Segoe UI Variable Display Semibold"/>
              </a:rPr>
              <a:t>M365 Copilot · Teams</a:t>
            </a:r>
          </a:p>
          <a:p>
            <a:pPr algn="ctr"/>
            <a:r>
              <a:rPr sz="1000" b="0">
                <a:solidFill>
                  <a:srgbClr val="091F2C"/>
                </a:solidFill>
                <a:latin typeface="Segoe UI Variable Text"/>
              </a:rPr>
              <a:t>El usuario conversa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32888" y="2258568"/>
            <a:ext cx="283464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34640" y="178308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91F2C"/>
                </a:solidFill>
                <a:latin typeface="Segoe UI Variable Display Semibold"/>
              </a:rPr>
              <a:t>App de Microsoft 365</a:t>
            </a:r>
          </a:p>
          <a:p>
            <a:pPr algn="ctr"/>
            <a:r>
              <a:rPr sz="1000" b="0">
                <a:solidFill>
                  <a:srgbClr val="091F2C"/>
                </a:solidFill>
                <a:latin typeface="Segoe UI Variable Text"/>
              </a:rPr>
              <a:t>Manifiesto 1.22 · customEngineAgents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18888" y="2258568"/>
            <a:ext cx="283464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20640" y="178308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91F2C"/>
                </a:solidFill>
                <a:latin typeface="Segoe UI Variable Display Semibold"/>
              </a:rPr>
              <a:t>Azure Bot Service</a:t>
            </a:r>
          </a:p>
          <a:p>
            <a:pPr algn="ctr"/>
            <a:r>
              <a:rPr sz="1000" b="0">
                <a:solidFill>
                  <a:srgbClr val="091F2C"/>
                </a:solidFill>
                <a:latin typeface="Segoe UI Variable Text"/>
              </a:rPr>
              <a:t>Canales Teams + M365 Extensions · OAuth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04888" y="2258568"/>
            <a:ext cx="283464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06640" y="178308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08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 Variable Display Semibold"/>
              </a:rPr>
              <a:t>Puente (Agents SDK)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Segoe UI Variable Text"/>
              </a:rPr>
              <a:t>Azure Container Apps · streaming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90888" y="2258568"/>
            <a:ext cx="283464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92640" y="1783080"/>
            <a:ext cx="1965960" cy="96012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91F2C"/>
                </a:solidFill>
                <a:latin typeface="Segoe UI Variable Display Semibold"/>
              </a:rPr>
              <a:t>Agente externo</a:t>
            </a:r>
          </a:p>
          <a:p>
            <a:pPr algn="ctr"/>
            <a:r>
              <a:rPr sz="1000" b="0">
                <a:solidFill>
                  <a:srgbClr val="091F2C"/>
                </a:solidFill>
                <a:latin typeface="Segoe UI Variable Text"/>
              </a:rPr>
              <a:t>GCP · MCP · LangChain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15468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3232" y="3319272"/>
            <a:ext cx="310896" cy="310896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3337560"/>
            <a:ext cx="192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Canal → puente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21608"/>
            <a:ext cx="2286000" cy="185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Solo Bot Framework puede llamar a /api/messages: JWT validado por el SDK; sin JWT → 401.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64992" y="315468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29584" y="3319272"/>
            <a:ext cx="310896" cy="310896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337560"/>
            <a:ext cx="192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Usuario → agente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7872" y="3721608"/>
            <a:ext cx="2286000" cy="185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Inicio de sesión Entra (OAuth del Bot), tenant permitido, lista de usuarios y Graph /me = remitente.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1344" y="315468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45936" y="3319272"/>
            <a:ext cx="310896" cy="310896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3337560"/>
            <a:ext cx="192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Puente → agente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3721608"/>
            <a:ext cx="2286000" cy="185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Identidad administrada, sin secretos: federación con GCP o token Entra con rol Agent.Invoke hacia el MCP.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97696" y="3154680"/>
            <a:ext cx="2651760" cy="25146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162288" y="3319272"/>
            <a:ext cx="310896" cy="310896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64624" y="3337560"/>
            <a:ext cx="192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Experiencia en Copilot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0576" y="3721608"/>
            <a:ext cx="2286000" cy="185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Streaming con aviso de progreso: Copilot corta a los 45 s si no recibe nada.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A"/>
                </a:solidFill>
                <a:latin typeface="Segoe UI Variable Text"/>
              </a:rPr>
              <a:t>Mismo código base de puente en las tres versiones · Microsoft 365 Agents SDK (Python) 1.9 · una réplica por puente · sin estado local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flip="none" rotWithShape="1">
          <a:gsLst>
            <a:gs pos="25000">
              <a:srgbClr val="0876D3">
                <a:alpha val="10000"/>
                <a:lumMod val="100000"/>
              </a:srgbClr>
            </a:gs>
            <a:gs pos="78000">
              <a:srgbClr val="FE9A63">
                <a:alpha val="10000"/>
              </a:srgbClr>
            </a:gs>
            <a:gs pos="0">
              <a:srgbClr val="18BDE9">
                <a:alpha val="10000"/>
              </a:srgbClr>
            </a:gs>
            <a:gs pos="55000">
              <a:srgbClr val="CA18B5">
                <a:alpha val="10000"/>
              </a:srgb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9" name="Graphic 8">
            <a:extLst>
              <a:ext uri="{FF2B5EF4-FFF2-40B4-BE49-F238E27FC236}">
                <a16:creationId xmlns:a16="http://schemas.microsoft.com/office/drawing/2014/main" id="{07DB022B-8A6D-5FEA-232A-B7CF43A1D4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4550" y="1992631"/>
            <a:ext cx="704849" cy="70484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9DA63AC-EC06-7FA3-3A4B-B7C54D3323A5}"/>
              </a:ext>
            </a:extLst>
          </p:cNvPr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itle 5">
            <a:extLst>
              <a:ext uri="{FF2B5EF4-FFF2-40B4-BE49-F238E27FC236}">
                <a16:creationId xmlns:a16="http://schemas.microsoft.com/office/drawing/2014/main" id="{5C7D06D1-23BC-8FB9-0F79-AE3F9762F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305249"/>
            <a:ext cx="10515600" cy="988695"/>
          </a:xfrm>
        </p:spPr>
        <p:txBody>
          <a:bodyPr>
            <a:noAutofit/>
          </a:bodyPr>
          <a:lstStyle/>
          <a:p>
            <a:r>
              <a:rPr lang="en-US" sz="4200" b="1">
                <a:latin typeface="Segoe UI Variable Display Semibold" pitchFamily="2" charset="0"/>
                <a:cs typeface="Segoe UI Variable Display Semibold" pitchFamily="2" charset="0"/>
              </a:rPr>
              <a:t>Renewal Risk Analyst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6EF5F4BE-EADE-085A-584D-2A04E3111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20932"/>
            <a:ext cx="10515600" cy="485457"/>
          </a:xfrm>
        </p:spPr>
        <p:txBody>
          <a:bodyPr>
            <a:no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latin typeface="Segoe UI Variable Text" pitchFamily="2" charset="0"/>
                <a:cs typeface="Segoe UI Variable Text" pitchFamily="2" charset="0"/>
              </a:rPr>
              <a:t>Agente 1 · Puente directo a Vertex AI Agent Engine (GCP)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EF7D7CF3-D8E3-3750-EA9E-B00F1D6899FD}"/>
              </a:ext>
            </a:extLst>
          </p:cNvPr>
          <p:cNvSpPr/>
          <p:nvPr/>
        </p:nvSpPr>
        <p:spPr>
          <a:xfrm rot="5400000">
            <a:off x="-3372356" y="3372356"/>
            <a:ext cx="6858000" cy="113288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20624" y="3474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gradFill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0" scaled="0"/>
                </a:gradFill>
                <a:latin typeface="Segoe UI Variable Display Semibold"/>
              </a:rPr>
              <a:t>Agente 1 · Renewal Risk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21792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egoe UI Variable Display Semibold"/>
              </a:rPr>
              <a:t>Funcionamiento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1325880"/>
            <a:ext cx="539496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Qué hace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Evalúa el riesgo de renovación de un cliente con datos de CRM, soporte, uso del producto y contratos, cita sus fuentes y prepara un borrador de email.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876D3"/>
                </a:solidFill>
                <a:latin typeface="Segoe UI Variable Display Semibold"/>
              </a:rPr>
              <a:t>Cómo se integra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El agente original (ADK) se despliega </a:t>
            </a:r>
            <a:r>
              <a:rPr sz="1200" b="1">
                <a:solidFill>
                  <a:srgbClr val="091F2C"/>
                </a:solidFill>
                <a:latin typeface="Segoe UI Variable Text"/>
              </a:rPr>
              <a:t>sin cambios</a:t>
            </a:r>
            <a:r>
              <a:rPr sz="1200" b="0">
                <a:solidFill>
                  <a:srgbClr val="091F2C"/>
                </a:solidFill>
                <a:latin typeface="Segoe UI Variable Text"/>
              </a:rPr>
              <a:t> en Vertex AI Agent Engine.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El puente recibe el mensaje de Copilot, autoriza al usuario y llama a la API REST del agente (:streamQuery).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1">
                <a:solidFill>
                  <a:srgbClr val="091F2C"/>
                </a:solidFill>
                <a:latin typeface="Segoe UI Variable Text"/>
              </a:rPr>
              <a:t>Sin estado</a:t>
            </a:r>
            <a:r>
              <a:rPr sz="1200" b="0">
                <a:solidFill>
                  <a:srgbClr val="091F2C"/>
                </a:solidFill>
                <a:latin typeface="Segoe UI Variable Text"/>
              </a:rPr>
              <a:t>: la sesión de cada chat vive en Agent Engine (user_id = SHA-256 de tenant, canal, chat y usuario).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1">
                <a:solidFill>
                  <a:srgbClr val="091F2C"/>
                </a:solidFill>
                <a:latin typeface="Segoe UI Variable Text"/>
              </a:rPr>
              <a:t>Sin claves</a:t>
            </a:r>
            <a:r>
              <a:rPr sz="1200" b="0">
                <a:solidFill>
                  <a:srgbClr val="091F2C"/>
                </a:solidFill>
                <a:latin typeface="Segoe UI Variable Text"/>
              </a:rPr>
              <a:t>: la identidad administrada del puente se federa con Google (Workload Identity Federation).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Permiso </a:t>
            </a:r>
            <a:r>
              <a:rPr sz="1200" b="1">
                <a:solidFill>
                  <a:srgbClr val="091F2C"/>
                </a:solidFill>
                <a:latin typeface="Segoe UI Variable Text"/>
              </a:rPr>
              <a:t>solo</a:t>
            </a:r>
            <a:r>
              <a:rPr sz="1200" b="0">
                <a:solidFill>
                  <a:srgbClr val="091F2C"/>
                </a:solidFill>
                <a:latin typeface="Segoe UI Variable Text"/>
              </a:rPr>
              <a:t> sobre ese Agent Engine (roles/aiplatform.user a nivel de recurso).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5257800" cy="1005840"/>
          </a:xfrm>
          <a:prstGeom prst="roundRect">
            <a:avLst>
              <a:gd name="adj" fmla="val 12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0020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Segoe UI"/>
              </a:rPr>
              <a:t>MODELO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876D3"/>
                </a:solidFill>
                <a:latin typeface="Segoe UI Variable Display Semibold"/>
              </a:rPr>
              <a:t>Gemini 2.5 Flash (GCP)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651760"/>
            <a:ext cx="5257800" cy="1005840"/>
          </a:xfrm>
          <a:prstGeom prst="roundRect">
            <a:avLst>
              <a:gd name="adj" fmla="val 12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78892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Segoe UI"/>
              </a:rPr>
              <a:t>HERRAMIENTAS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876D3"/>
                </a:solidFill>
                <a:latin typeface="Segoe UI Variable Display Semibold"/>
              </a:rPr>
              <a:t>MCP CRM · MCP ServiceNow · Vertex AI 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840480"/>
            <a:ext cx="5257800" cy="1005840"/>
          </a:xfrm>
          <a:prstGeom prst="roundRect">
            <a:avLst>
              <a:gd name="adj" fmla="val 12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97764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Segoe UI"/>
              </a:rPr>
              <a:t>LATENCIA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876D3"/>
                </a:solidFill>
                <a:latin typeface="Segoe UI Variable Display Semibold"/>
              </a:rPr>
              <a:t>20–150 s por análisis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5029200"/>
            <a:ext cx="5257800" cy="1005840"/>
          </a:xfrm>
          <a:prstGeom prst="roundRect">
            <a:avLst>
              <a:gd name="adj" fmla="val 12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516636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Segoe UI"/>
              </a:rPr>
              <a:t>CANALES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876D3"/>
                </a:solidFill>
                <a:latin typeface="Segoe UI Variable Display Semibold"/>
              </a:rPr>
              <a:t>Teams · Copilot web · app de Copilot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EF7D7CF3-D8E3-3750-EA9E-B00F1D6899FD}"/>
              </a:ext>
            </a:extLst>
          </p:cNvPr>
          <p:cNvSpPr/>
          <p:nvPr/>
        </p:nvSpPr>
        <p:spPr>
          <a:xfrm rot="5400000">
            <a:off x="-3372356" y="3372356"/>
            <a:ext cx="6858000" cy="113288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20624" y="3474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gradFill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0" scaled="0"/>
                </a:gradFill>
                <a:latin typeface="Segoe UI Variable Display Semibold"/>
              </a:rPr>
              <a:t>Agente 1 · Renewal Risk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21792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egoe UI Variable Display Semibold"/>
              </a:rPr>
              <a:t>Arquitectura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25880"/>
            <a:ext cx="3429000" cy="51206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B9C7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Segoe UI"/>
              </a:rPr>
              <a:t>MICROSOFT 365 · TENANT DEL CLIENTE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325880"/>
            <a:ext cx="3429000" cy="51206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B9C7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41732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Segoe UI"/>
              </a:rPr>
              <a:t>AZURE CONTAINER APPS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325880"/>
            <a:ext cx="4069080" cy="51206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B9C7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417320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Segoe UI"/>
              </a:rPr>
              <a:t>GOOGLE CLOUD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1783080"/>
            <a:ext cx="2880360" cy="73152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Usuario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M365 Copilot · Teams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017520"/>
            <a:ext cx="2880360" cy="105156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Azure Bot Service (F0)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Teams + Microsoft 365 Extensions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Conexión OAuth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846320"/>
            <a:ext cx="2880360" cy="9144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Microsoft Entra ID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Registro de app · Graph /me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017520"/>
            <a:ext cx="2880360" cy="1051560"/>
          </a:xfrm>
          <a:prstGeom prst="roundRect">
            <a:avLst>
              <a:gd name="adj" fmla="val 12000"/>
            </a:avLst>
          </a:prstGeom>
          <a:solidFill>
            <a:srgbClr val="08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Variable Display Semibold"/>
              </a:rPr>
              <a:t>Puente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Segoe UI Variable Text"/>
              </a:rPr>
              <a:t>M365 Agents SDK · streaming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Segoe UI Variable Text"/>
              </a:rPr>
              <a:t>sin estado local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4846320"/>
            <a:ext cx="2880360" cy="9144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Identidad administrada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sin secretos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783080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Google STS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Workload Identity Federation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pool + proveedor restringidos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3017520"/>
            <a:ext cx="3520440" cy="105156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Vertex AI Agent Engine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Renewal Risk Analyst · ADK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Gemini 2.5 Flash · Sessions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4846320"/>
            <a:ext cx="3520440" cy="9144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Herramientas del agente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Vertex AI Search · MCP CRM · ServiceNow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121408" y="2514600"/>
            <a:ext cx="0" cy="50292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240280" y="2633472"/>
            <a:ext cx="96012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1 · pregunta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566160" y="3538728"/>
            <a:ext cx="777240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611880" y="3200400"/>
            <a:ext cx="68580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2 · JWT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3566160" y="3931920"/>
            <a:ext cx="777240" cy="105156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429000" y="4343400"/>
            <a:ext cx="86868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3 · usuario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779008" y="4069080"/>
            <a:ext cx="0" cy="77724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897880" y="4343400"/>
            <a:ext cx="77724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4 · token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7223760" y="2286000"/>
            <a:ext cx="777240" cy="96012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995160" y="2651760"/>
            <a:ext cx="105156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5 · federación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223760" y="3611880"/>
            <a:ext cx="777240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086600" y="3730752"/>
            <a:ext cx="114300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6 · streamQuery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756648" y="4069080"/>
            <a:ext cx="0" cy="77724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875520" y="4343400"/>
            <a:ext cx="73152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7 · tools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EF7D7CF3-D8E3-3750-EA9E-B00F1D6899FD}"/>
              </a:ext>
            </a:extLst>
          </p:cNvPr>
          <p:cNvSpPr/>
          <p:nvPr/>
        </p:nvSpPr>
        <p:spPr>
          <a:xfrm rot="5400000">
            <a:off x="-3372356" y="3372356"/>
            <a:ext cx="6858000" cy="113288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20624" y="3474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gradFill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0" scaled="0"/>
                </a:gradFill>
                <a:latin typeface="Segoe UI Variable Display Semibold"/>
              </a:rPr>
              <a:t>Agente 1 · Renewal Risk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21792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egoe UI Variable Display Semibold"/>
              </a:rPr>
              <a:t>Flujo de una petición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173736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75564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Pregunta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25856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El usuario escribe en Copilot o Teams: «Analiza el riesgo de renovación de Contoso».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82112" y="2674620"/>
            <a:ext cx="164592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64992" y="160020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02152" y="173736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175564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Canal autenticado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225856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Bot Service entrega la actividad al puente con un JWT de Bot Framework (Copilot: msteams:COPILOT).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8464" y="2674620"/>
            <a:ext cx="164592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81344" y="160020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18504" y="173736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3" y="175564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Usuario autorizado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25856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Token OAuth del usuario, tenant y lista permitidos, y Graph /me debe coincidir con el remitente.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14815" y="2674620"/>
            <a:ext cx="164593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97696" y="160020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34856" y="173736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6" y="175564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Aviso de progreso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225856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StreamingResponse envía «Consultando…» y mantiene viva la respuesta cada 35 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02336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416052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17880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Identidad sin claves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68172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Token de la identidad administrada → Google STS → token federado de alcance mínimo.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182112" y="5097780"/>
            <a:ext cx="164592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364992" y="402336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02152" y="416052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13632" y="417880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Sesión del chat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9584" y="468172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async_list_sessions recupera la sesión de esa conversación o crea una nueva.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98464" y="5097780"/>
            <a:ext cx="164592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181344" y="402336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18504" y="416052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9983" y="417880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Razonamiento en GCP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468172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async_stream_query: el agente consulta CRM, ServiceNow, uso y contratos.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814815" y="5097780"/>
            <a:ext cx="164593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997696" y="402336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134856" y="416052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6336" y="417880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Respuesta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62288" y="468172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Texto final al stream: Copilot muestra la respuesta de «Renewal Risk Analyst».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flip="none" rotWithShape="1">
          <a:gsLst>
            <a:gs pos="25000">
              <a:srgbClr val="0876D3">
                <a:alpha val="10000"/>
                <a:lumMod val="100000"/>
              </a:srgbClr>
            </a:gs>
            <a:gs pos="78000">
              <a:srgbClr val="FE9A63">
                <a:alpha val="10000"/>
              </a:srgbClr>
            </a:gs>
            <a:gs pos="0">
              <a:srgbClr val="18BDE9">
                <a:alpha val="10000"/>
              </a:srgbClr>
            </a:gs>
            <a:gs pos="55000">
              <a:srgbClr val="CA18B5">
                <a:alpha val="10000"/>
              </a:srgb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9" name="Graphic 8">
            <a:extLst>
              <a:ext uri="{FF2B5EF4-FFF2-40B4-BE49-F238E27FC236}">
                <a16:creationId xmlns:a16="http://schemas.microsoft.com/office/drawing/2014/main" id="{07DB022B-8A6D-5FEA-232A-B7CF43A1D4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4550" y="1992631"/>
            <a:ext cx="704849" cy="70484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9DA63AC-EC06-7FA3-3A4B-B7C54D3323A5}"/>
              </a:ext>
            </a:extLst>
          </p:cNvPr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itle 5">
            <a:extLst>
              <a:ext uri="{FF2B5EF4-FFF2-40B4-BE49-F238E27FC236}">
                <a16:creationId xmlns:a16="http://schemas.microsoft.com/office/drawing/2014/main" id="{5C7D06D1-23BC-8FB9-0F79-AE3F9762F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305249"/>
            <a:ext cx="10515600" cy="988695"/>
          </a:xfrm>
        </p:spPr>
        <p:txBody>
          <a:bodyPr>
            <a:noAutofit/>
          </a:bodyPr>
          <a:lstStyle/>
          <a:p>
            <a:r>
              <a:rPr lang="en-US" sz="4200" b="1">
                <a:latin typeface="Segoe UI Variable Display Semibold" pitchFamily="2" charset="0"/>
                <a:cs typeface="Segoe UI Variable Display Semibold" pitchFamily="2" charset="0"/>
              </a:rPr>
              <a:t>Renewal Risk Analyst (MCP)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6EF5F4BE-EADE-085A-584D-2A04E3111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20932"/>
            <a:ext cx="10515600" cy="485457"/>
          </a:xfrm>
        </p:spPr>
        <p:txBody>
          <a:bodyPr>
            <a:no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latin typeface="Segoe UI Variable Text" pitchFamily="2" charset="0"/>
                <a:cs typeface="Segoe UI Variable Text" pitchFamily="2" charset="0"/>
              </a:rPr>
              <a:t>Agente 2 · El mismo agente de GCP, a través de un servidor MCP en ACA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EF7D7CF3-D8E3-3750-EA9E-B00F1D6899FD}"/>
              </a:ext>
            </a:extLst>
          </p:cNvPr>
          <p:cNvSpPr/>
          <p:nvPr/>
        </p:nvSpPr>
        <p:spPr>
          <a:xfrm rot="5400000">
            <a:off x="-3372356" y="3372356"/>
            <a:ext cx="6858000" cy="113288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20624" y="3474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gradFill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0" scaled="0"/>
                </a:gradFill>
                <a:latin typeface="Segoe UI Variable Display Semibold"/>
              </a:rPr>
              <a:t>Agente 2 · Renewal Risk Analyst (MCP)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21792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egoe UI Variable Display Semibold"/>
              </a:rPr>
              <a:t>Funcionamiento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1325880"/>
            <a:ext cx="557784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Por qué MCP en ACA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La plataforma del cliente vive en Azure y consume agentes de otras nubes. Cada agente remoto se publica como un </a:t>
            </a:r>
            <a:r>
              <a:rPr sz="1200" b="1">
                <a:solidFill>
                  <a:srgbClr val="091F2C"/>
                </a:solidFill>
                <a:latin typeface="Segoe UI Variable Text"/>
              </a:rPr>
              <a:t>servidor MCP en ACA</a:t>
            </a:r>
            <a:r>
              <a:rPr sz="1200" b="0">
                <a:solidFill>
                  <a:srgbClr val="091F2C"/>
                </a:solidFill>
                <a:latin typeface="Segoe UI Variable Text"/>
              </a:rPr>
              <a:t>: un único estándar para el puente de Copilot y para otros agentes (LangChain).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876D3"/>
                </a:solidFill>
                <a:latin typeface="Segoe UI Variable Display Semibold"/>
              </a:rPr>
              <a:t>Decisiones de diseño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1">
                <a:solidFill>
                  <a:srgbClr val="091F2C"/>
                </a:solidFill>
                <a:latin typeface="Segoe UI Variable Text"/>
              </a:rPr>
              <a:t>Un MCP por agente</a:t>
            </a:r>
            <a:r>
              <a:rPr sz="1200" b="0">
                <a:solidFill>
                  <a:srgbClr val="091F2C"/>
                </a:solidFill>
                <a:latin typeface="Segoe UI Variable Text"/>
              </a:rPr>
              <a:t>, con su propia identidad: solo ella puede llegar a su agente en GCP.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1">
                <a:solidFill>
                  <a:srgbClr val="091F2C"/>
                </a:solidFill>
                <a:latin typeface="Segoe UI Variable Text"/>
              </a:rPr>
              <a:t>Entra ID</a:t>
            </a:r>
            <a:r>
              <a:rPr sz="1200" b="0">
                <a:solidFill>
                  <a:srgbClr val="091F2C"/>
                </a:solidFill>
                <a:latin typeface="Segoe UI Variable Text"/>
              </a:rPr>
              <a:t> hacia el MCP: token de app con rol Agent.Invoke y client IDs permitidos.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El </a:t>
            </a:r>
            <a:r>
              <a:rPr sz="1200" b="1">
                <a:solidFill>
                  <a:srgbClr val="091F2C"/>
                </a:solidFill>
                <a:latin typeface="Segoe UI Variable Text"/>
              </a:rPr>
              <a:t>puente no tiene acceso a GCP</a:t>
            </a:r>
            <a:r>
              <a:rPr sz="1200" b="0">
                <a:solidFill>
                  <a:srgbClr val="091F2C"/>
                </a:solidFill>
                <a:latin typeface="Segoe UI Variable Text"/>
              </a:rPr>
              <a:t>: solo puede invocar al MCP.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1">
                <a:solidFill>
                  <a:srgbClr val="091F2C"/>
                </a:solidFill>
                <a:latin typeface="Segoe UI Variable Text"/>
              </a:rPr>
              <a:t>Ingress interno</a:t>
            </a:r>
            <a:r>
              <a:rPr sz="1200" b="0">
                <a:solidFill>
                  <a:srgbClr val="091F2C"/>
                </a:solidFill>
                <a:latin typeface="Segoe UI Variable Text"/>
              </a:rPr>
              <a:t>: el MCP no se publica en Internet.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Agent Engine no expone MCP: el adaptador envuelve su API sin reimplementar el agente.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5257800" cy="4709160"/>
          </a:xfrm>
          <a:prstGeom prst="roundRect">
            <a:avLst>
              <a:gd name="adj" fmla="val 5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45920"/>
            <a:ext cx="475488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Segoe UI"/>
              </a:rPr>
              <a:t>CONTRATO MCP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876D3"/>
                </a:solidFill>
                <a:latin typeface="Segoe UI Variable Display Semibold"/>
              </a:rPr>
              <a:t>ask_renewal_risk_analyst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message, conversation_id → respuesta del agente. Progreso cada 15 s; de 20 s a 3 min.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876D3"/>
                </a:solidFill>
                <a:latin typeface="Segoe UI Variable Display Semibold"/>
              </a:rPr>
              <a:t>reset_conversation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conversation_id → borra la sesión remota de ese consumidor.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1A1A1A"/>
                </a:solidFill>
                <a:latin typeface="Segoe UI"/>
              </a:rPr>
              <a:t> </a:t>
            </a:r>
          </a:p>
          <a:p>
            <a:pPr algn="l">
              <a:spcBef>
                <a:spcPts val="200"/>
              </a:spcBef>
            </a:pPr>
            <a:r>
              <a:rPr sz="1000" b="1">
                <a:solidFill>
                  <a:srgbClr val="1A1A1A"/>
                </a:solidFill>
                <a:latin typeface="Segoe UI"/>
              </a:rPr>
              <a:t>TRANSPORTE Y SEGURIDAD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Streamable HTTP sin estado (MCP SDK 2.3) · sin token → 401 · errores con referencia, sin detalles internos.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Sesiones separadas por consumidor: user_id = mcp:SHA-256(cliente, conversación).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EF7D7CF3-D8E3-3750-EA9E-B00F1D6899FD}"/>
              </a:ext>
            </a:extLst>
          </p:cNvPr>
          <p:cNvSpPr/>
          <p:nvPr/>
        </p:nvSpPr>
        <p:spPr>
          <a:xfrm rot="5400000">
            <a:off x="-3372356" y="3372356"/>
            <a:ext cx="6858000" cy="113288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20624" y="3474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gradFill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0" scaled="0"/>
                </a:gradFill>
                <a:latin typeface="Segoe UI Variable Display Semibold"/>
              </a:rPr>
              <a:t>Agente 2 · Renewal Risk Analyst (MCP)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21792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egoe UI Variable Display Semibold"/>
              </a:rPr>
              <a:t>Arquitectura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25880"/>
            <a:ext cx="3154680" cy="51206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B9C7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Segoe UI"/>
              </a:rPr>
              <a:t>MICROSOFT 365 · TENANT DEL CLIENTE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1325880"/>
            <a:ext cx="4069080" cy="51206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B9C7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417320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Segoe UI"/>
              </a:rPr>
              <a:t>ACA · cae-renewal-risk-m365-mcp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325880"/>
            <a:ext cx="3794760" cy="51206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B9C7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41732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Segoe UI"/>
              </a:rPr>
              <a:t>GOOGLE CLOUD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1783080"/>
            <a:ext cx="2697480" cy="73152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Usuario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M365 Copilot · Teams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71800"/>
            <a:ext cx="2697480" cy="10058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Azure Bot Service (F0)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Teams + M365 Extensions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OAuth entra-mcp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46320"/>
            <a:ext cx="2697480" cy="96012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Microsoft Entra ID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API del MCP · rol Agent.Invoke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1783080"/>
            <a:ext cx="3611880" cy="914400"/>
          </a:xfrm>
          <a:prstGeom prst="roundRect">
            <a:avLst>
              <a:gd name="adj" fmla="val 12000"/>
            </a:avLst>
          </a:prstGeom>
          <a:solidFill>
            <a:srgbClr val="08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Variable Display Semibold"/>
              </a:rPr>
              <a:t>Puente -mcp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Segoe UI Variable Text"/>
              </a:rPr>
              <a:t>Agents SDK + cliente MCP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Segoe UI Variable Text"/>
              </a:rPr>
              <a:t>identidad sin acceso a GCP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3520440"/>
            <a:ext cx="3611880" cy="1005840"/>
          </a:xfrm>
          <a:prstGeom prst="roundRect">
            <a:avLst>
              <a:gd name="adj" fmla="val 12000"/>
            </a:avLst>
          </a:prstGeom>
          <a:solidFill>
            <a:srgbClr val="CFE0ED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MCP renewal-risk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Streamable HTTP /mcp · ingress interno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identidad federada con GCP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639" y="5257800"/>
            <a:ext cx="3611880" cy="73152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Otros consumidores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p. ej. agentes LangChain en ACA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783080"/>
            <a:ext cx="3337560" cy="86868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Google STS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pool renewal-m365-azure-mcp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proveedor azure-mcp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108960"/>
            <a:ext cx="3337560" cy="105156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Vertex AI Agent Engine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Renewal Risk Analyst · ADK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Gemini 2.5 Flash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846320"/>
            <a:ext cx="3337560" cy="9144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Herramientas del agente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Vertex AI Search · MCP CRM · ServiceNow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984248" y="2514600"/>
            <a:ext cx="0" cy="45720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103120" y="2615184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1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3337560" y="2377440"/>
            <a:ext cx="640079" cy="91440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337560" y="2724912"/>
            <a:ext cx="64008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2 · JWT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3337560" y="2606040"/>
            <a:ext cx="640079" cy="265176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291840" y="3840480"/>
            <a:ext cx="73152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3 · Entra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79008" y="2697480"/>
            <a:ext cx="0" cy="82296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897880" y="2990088"/>
            <a:ext cx="201168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4 · tools/call + Bearer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779008" y="4526280"/>
            <a:ext cx="0" cy="731520"/>
          </a:xfrm>
          <a:prstGeom prst="line">
            <a:avLst/>
          </a:prstGeom>
          <a:ln w="19050">
            <a:solidFill>
              <a:srgbClr val="0876D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589520" y="2286000"/>
            <a:ext cx="640080" cy="132588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772400" y="2761488"/>
            <a:ext cx="105156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5 · federación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7589520" y="3657600"/>
            <a:ext cx="640080" cy="36576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452360" y="4160520"/>
            <a:ext cx="114300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6 · streamQuery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893808" y="4160520"/>
            <a:ext cx="0" cy="68580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012680" y="4389120"/>
            <a:ext cx="73152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7 · tools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EF7D7CF3-D8E3-3750-EA9E-B00F1D6899FD}"/>
              </a:ext>
            </a:extLst>
          </p:cNvPr>
          <p:cNvSpPr/>
          <p:nvPr/>
        </p:nvSpPr>
        <p:spPr>
          <a:xfrm rot="5400000">
            <a:off x="-3372356" y="3372356"/>
            <a:ext cx="6858000" cy="113288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20624" y="3474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gradFill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0" scaled="0"/>
                </a:gradFill>
                <a:latin typeface="Segoe UI Variable Display Semibold"/>
              </a:rPr>
              <a:t>Agente 2 · Renewal Risk Analyst (MCP)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21792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egoe UI Variable Display Semibold"/>
              </a:rPr>
              <a:t>Flujo de una petición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173736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75564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Pregunta y canal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25856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Copilot → Bot Service → puente -mcp con JWT de Bot Framework.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82112" y="2674620"/>
            <a:ext cx="164592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64992" y="160020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02152" y="173736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175564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Usuario autorizado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225856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OAuth del Bot, lista de usuarios y Graph /me, igual que la versión directa.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8464" y="2674620"/>
            <a:ext cx="164592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81344" y="160020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18504" y="173736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3" y="175564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Token para el 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25856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La identidad del puente pide a Entra un token de app: aud api://mcp, roles Agent.Invoke.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14815" y="2674620"/>
            <a:ext cx="164593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97696" y="160020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34856" y="173736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6" y="175564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tools/call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225856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ask_renewal_risk_analyst(message, conversation_id) por la red interna de ACA.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02336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416052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17880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Validación en el MCP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68172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Firma, emisor, tenant, audiencia, rol y client ID permitido; si no, 401.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182112" y="5097780"/>
            <a:ext cx="164592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364992" y="402336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02152" y="416052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13632" y="417880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MCP → GCP sin claves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9584" y="468172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Identidad del MCP → STS → Agent Engine: sesión mcp:… y streamQuery.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98464" y="5097780"/>
            <a:ext cx="164592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181344" y="402336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18504" y="416052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9983" y="417880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Progreso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468172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notifications/progress cada 15 s; el puente mantiene vivo el stream de Copilot.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814815" y="5097780"/>
            <a:ext cx="164593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997696" y="402336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134856" y="416052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6336" y="417880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Respuesta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62288" y="468172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CallToolResult → stream de Copilot: respuesta de «Renewal Risk Analyst (MCP)».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flip="none" rotWithShape="1">
          <a:gsLst>
            <a:gs pos="25000">
              <a:srgbClr val="0876D3">
                <a:alpha val="10000"/>
                <a:lumMod val="100000"/>
              </a:srgbClr>
            </a:gs>
            <a:gs pos="78000">
              <a:srgbClr val="FE9A63">
                <a:alpha val="10000"/>
              </a:srgbClr>
            </a:gs>
            <a:gs pos="0">
              <a:srgbClr val="18BDE9">
                <a:alpha val="10000"/>
              </a:srgbClr>
            </a:gs>
            <a:gs pos="55000">
              <a:srgbClr val="CA18B5">
                <a:alpha val="10000"/>
              </a:srgb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9" name="Graphic 8">
            <a:extLst>
              <a:ext uri="{FF2B5EF4-FFF2-40B4-BE49-F238E27FC236}">
                <a16:creationId xmlns:a16="http://schemas.microsoft.com/office/drawing/2014/main" id="{07DB022B-8A6D-5FEA-232A-B7CF43A1D4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4550" y="1992631"/>
            <a:ext cx="704849" cy="70484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9DA63AC-EC06-7FA3-3A4B-B7C54D3323A5}"/>
              </a:ext>
            </a:extLst>
          </p:cNvPr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itle 5">
            <a:extLst>
              <a:ext uri="{FF2B5EF4-FFF2-40B4-BE49-F238E27FC236}">
                <a16:creationId xmlns:a16="http://schemas.microsoft.com/office/drawing/2014/main" id="{5C7D06D1-23BC-8FB9-0F79-AE3F9762F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305249"/>
            <a:ext cx="10515600" cy="988695"/>
          </a:xfrm>
        </p:spPr>
        <p:txBody>
          <a:bodyPr>
            <a:noAutofit/>
          </a:bodyPr>
          <a:lstStyle/>
          <a:p>
            <a:r>
              <a:rPr lang="en-US" sz="4200" b="1">
                <a:latin typeface="Segoe UI Variable Display Semibold" pitchFamily="2" charset="0"/>
                <a:cs typeface="Segoe UI Variable Display Semibold" pitchFamily="2" charset="0"/>
              </a:rPr>
              <a:t>Weather Assistant (LangChain)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6EF5F4BE-EADE-085A-584D-2A04E3111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20932"/>
            <a:ext cx="10515600" cy="485457"/>
          </a:xfrm>
        </p:spPr>
        <p:txBody>
          <a:bodyPr>
            <a:no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latin typeface="Segoe UI Variable Text" pitchFamily="2" charset="0"/>
                <a:cs typeface="Segoe UI Variable Text" pitchFamily="2" charset="0"/>
              </a:rPr>
              <a:t>Agente 3 · Agente LangChain en ACA expuesto por MCP, con el puente en otro entorno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EF7D7CF3-D8E3-3750-EA9E-B00F1D6899FD}"/>
              </a:ext>
            </a:extLst>
          </p:cNvPr>
          <p:cNvSpPr/>
          <p:nvPr/>
        </p:nvSpPr>
        <p:spPr>
          <a:xfrm rot="5400000">
            <a:off x="-3372356" y="3372356"/>
            <a:ext cx="6858000" cy="113288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20624" y="3474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gradFill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0" scaled="0"/>
                </a:gradFill>
                <a:latin typeface="Segoe UI Variable Display Semibold"/>
              </a:rPr>
              <a:t>Agente 3 · Weather Assistant (LangChain)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21792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egoe UI Variable Display Semibold"/>
              </a:rPr>
              <a:t>Funcionamiento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1325880"/>
            <a:ext cx="5577840" cy="4937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Qué hace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Asistente del tiempo que responde </a:t>
            </a:r>
            <a:r>
              <a:rPr sz="1200" b="1">
                <a:solidFill>
                  <a:srgbClr val="091F2C"/>
                </a:solidFill>
                <a:latin typeface="Segoe UI Variable Text"/>
              </a:rPr>
              <a:t>siempre en el idioma del usuario</a:t>
            </a:r>
            <a:r>
              <a:rPr sz="1200" b="0">
                <a:solidFill>
                  <a:srgbClr val="091F2C"/>
                </a:solidFill>
                <a:latin typeface="Segoe UI Variable Text"/>
              </a:rPr>
              <a:t>, pide la ciudad si falta y devuelve el tiempo actual usando siempre sus herramientas.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876D3"/>
                </a:solidFill>
                <a:latin typeface="Segoe UI Variable Display Semibold"/>
              </a:rPr>
              <a:t>Cómo está construido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1">
                <a:solidFill>
                  <a:srgbClr val="091F2C"/>
                </a:solidFill>
                <a:latin typeface="Segoe UI Variable Text"/>
              </a:rPr>
              <a:t>LangChain</a:t>
            </a:r>
            <a:r>
              <a:rPr sz="1200" b="0">
                <a:solidFill>
                  <a:srgbClr val="091F2C"/>
                </a:solidFill>
                <a:latin typeface="Segoe UI Variable Text"/>
              </a:rPr>
              <a:t> (create_agent) con las instrucciones originales y memoria por conversación (LangGraph).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1">
                <a:solidFill>
                  <a:srgbClr val="091F2C"/>
                </a:solidFill>
                <a:latin typeface="Segoe UI Variable Text"/>
              </a:rPr>
              <a:t>Herramientas generadas desde las definiciones OpenAPI</a:t>
            </a:r>
            <a:r>
              <a:rPr sz="1200" b="0">
                <a:solidFill>
                  <a:srgbClr val="091F2C"/>
                </a:solidFill>
                <a:latin typeface="Segoe UI Variable Text"/>
              </a:rPr>
              <a:t> de Copilot Studio: OpenMeteo-Geocoding y OpenMeteo-Weather; cada una solo puede llamar a su host.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1">
                <a:solidFill>
                  <a:srgbClr val="091F2C"/>
                </a:solidFill>
                <a:latin typeface="Segoe UI Variable Text"/>
              </a:rPr>
              <a:t>gpt-5.6-luna</a:t>
            </a:r>
            <a:r>
              <a:rPr sz="1200" b="0">
                <a:solidFill>
                  <a:srgbClr val="091F2C"/>
                </a:solidFill>
                <a:latin typeface="Segoe UI Variable Text"/>
              </a:rPr>
              <a:t> en Microsoft Foundry con la identidad administrada del agente, sin claves.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Expuesto por </a:t>
            </a:r>
            <a:r>
              <a:rPr sz="1200" b="1">
                <a:solidFill>
                  <a:srgbClr val="091F2C"/>
                </a:solidFill>
                <a:latin typeface="Segoe UI Variable Text"/>
              </a:rPr>
              <a:t>MCP</a:t>
            </a:r>
            <a:r>
              <a:rPr sz="1200" b="0">
                <a:solidFill>
                  <a:srgbClr val="091F2C"/>
                </a:solidFill>
                <a:latin typeface="Segoe UI Variable Text"/>
              </a:rPr>
              <a:t> en su propio entorno ACA; el puente vive en </a:t>
            </a:r>
            <a:r>
              <a:rPr sz="1200" b="1">
                <a:solidFill>
                  <a:srgbClr val="091F2C"/>
                </a:solidFill>
                <a:latin typeface="Segoe UI Variable Text"/>
              </a:rPr>
              <a:t>otro entorno ACA</a:t>
            </a:r>
            <a:r>
              <a:rPr sz="1200" b="0">
                <a:solidFill>
                  <a:srgbClr val="091F2C"/>
                </a:solidFill>
                <a:latin typeface="Segoe UI Variable Text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5257800" cy="1005840"/>
          </a:xfrm>
          <a:prstGeom prst="roundRect">
            <a:avLst>
              <a:gd name="adj" fmla="val 12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0020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Segoe UI"/>
              </a:rPr>
              <a:t>1 · GEOCODING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876D3"/>
                </a:solidFill>
                <a:latin typeface="Segoe UI Variable Display Semibold"/>
              </a:rPr>
              <a:t>Search location → latitud y longitud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651760"/>
            <a:ext cx="5257800" cy="1005840"/>
          </a:xfrm>
          <a:prstGeom prst="roundRect">
            <a:avLst>
              <a:gd name="adj" fmla="val 12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78892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Segoe UI"/>
              </a:rPr>
              <a:t>2 · PREVISIÓN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876D3"/>
                </a:solidFill>
                <a:latin typeface="Segoe UI Variable Display Semibold"/>
              </a:rPr>
              <a:t>Get weather forecast → tiempo actual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840480"/>
            <a:ext cx="5257800" cy="1005840"/>
          </a:xfrm>
          <a:prstGeom prst="roundRect">
            <a:avLst>
              <a:gd name="adj" fmla="val 12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97764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Segoe UI"/>
              </a:rPr>
              <a:t>IDIOMAS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876D3"/>
                </a:solidFill>
                <a:latin typeface="Segoe UI Variable Display Semibold"/>
              </a:rPr>
              <a:t>ES · EN · FR · … (el del último mensaje)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5029200"/>
            <a:ext cx="5257800" cy="1005840"/>
          </a:xfrm>
          <a:prstGeom prst="roundRect">
            <a:avLst>
              <a:gd name="adj" fmla="val 12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5166360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Segoe UI"/>
              </a:rPr>
              <a:t>LATENCIA</a:t>
            </a:r>
          </a:p>
          <a:p>
            <a:pPr algn="l">
              <a:spcBef>
                <a:spcPts val="1000"/>
              </a:spcBef>
            </a:pPr>
            <a:r>
              <a:rPr sz="1400" b="1">
                <a:solidFill>
                  <a:srgbClr val="0876D3"/>
                </a:solidFill>
                <a:latin typeface="Segoe UI Variable Display Semibold"/>
              </a:rPr>
              <a:t>4–10 s por respuesta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EF7D7CF3-D8E3-3750-EA9E-B00F1D6899FD}"/>
              </a:ext>
            </a:extLst>
          </p:cNvPr>
          <p:cNvSpPr/>
          <p:nvPr/>
        </p:nvSpPr>
        <p:spPr>
          <a:xfrm rot="5400000">
            <a:off x="-3372356" y="3372356"/>
            <a:ext cx="6858000" cy="113288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20624" y="3474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gradFill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0" scaled="0"/>
                </a:gradFill>
                <a:latin typeface="Segoe UI Variable Display Semibold"/>
              </a:rPr>
              <a:t>Agente 3 · Weather Assistant (LangChain)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21792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egoe UI Variable Display Semibold"/>
              </a:rPr>
              <a:t>Arquitectura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25880"/>
            <a:ext cx="2880360" cy="51206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B9C7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Segoe UI"/>
              </a:rPr>
              <a:t>MICROSOFT 365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325880"/>
            <a:ext cx="2606040" cy="51206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B9C7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14173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Segoe UI"/>
              </a:rPr>
              <a:t>ACA · cae-weather-m365-bridge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25880"/>
            <a:ext cx="2926080" cy="51206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B9C7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Segoe UI"/>
              </a:rPr>
              <a:t>ACA · cae-weather-agents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1325880"/>
            <a:ext cx="2423160" cy="51206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B9C7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41732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Segoe UI"/>
              </a:rPr>
              <a:t>SERVICIOS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1783080"/>
            <a:ext cx="2514600" cy="73152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Usuario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M365 Copilot · Teams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971800"/>
            <a:ext cx="2514600" cy="10058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Azure Bot Service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Teams + M365 Extensions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OAuth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846320"/>
            <a:ext cx="2514600" cy="96012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Microsoft Entra ID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API Weather Agent MCP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rol Agent.Invoke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2971800"/>
            <a:ext cx="2240280" cy="1005840"/>
          </a:xfrm>
          <a:prstGeom prst="roundRect">
            <a:avLst>
              <a:gd name="adj" fmla="val 12000"/>
            </a:avLst>
          </a:prstGeom>
          <a:solidFill>
            <a:srgbClr val="08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Variable Display Semibold"/>
              </a:rPr>
              <a:t>Puente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Segoe UI Variable Text"/>
              </a:rPr>
              <a:t>Agents SDK + cliente MCP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Segoe UI Variable Text"/>
              </a:rPr>
              <a:t>sin acceso al modelo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1783080"/>
            <a:ext cx="2560320" cy="1051560"/>
          </a:xfrm>
          <a:prstGeom prst="roundRect">
            <a:avLst>
              <a:gd name="adj" fmla="val 12000"/>
            </a:avLst>
          </a:prstGeom>
          <a:solidFill>
            <a:srgbClr val="CFE0ED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MCP /mcp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ingress externo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valida token Entra + rol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3291840"/>
            <a:ext cx="2560320" cy="11430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Agente LangChain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create_agent + memoria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herramientas OpenAPI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4892040"/>
            <a:ext cx="2560320" cy="86868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Identidad del agente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acceso al modelo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55480" y="1920240"/>
            <a:ext cx="2057400" cy="105156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Microsoft Foundry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gpt-5.6-luna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Azure OpenAI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80" y="3886200"/>
            <a:ext cx="2057400" cy="105156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OpenMeteo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Geocoding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Forecast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847088" y="2514600"/>
            <a:ext cx="0" cy="45720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965960" y="2615184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108960" y="3474720"/>
            <a:ext cx="548640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246120" y="3154680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2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3108960" y="3840480"/>
            <a:ext cx="548640" cy="128016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971800" y="4297680"/>
            <a:ext cx="73152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3 · Entra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897880" y="2377440"/>
            <a:ext cx="548640" cy="82296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572000" y="2331720"/>
            <a:ext cx="137160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4 · HTTPS + Bearer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26679" y="2834640"/>
            <a:ext cx="0" cy="45720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006840" y="2514600"/>
            <a:ext cx="548640" cy="105156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778240" y="2788920"/>
            <a:ext cx="68580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5 · LLM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006840" y="3977639"/>
            <a:ext cx="548640" cy="411481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778240" y="4434840"/>
            <a:ext cx="86868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6 · OpenAPI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7726679" y="4434840"/>
            <a:ext cx="0" cy="457200"/>
          </a:xfrm>
          <a:prstGeom prst="line">
            <a:avLst/>
          </a:prstGeom>
          <a:ln w="19050">
            <a:solidFill>
              <a:srgbClr val="0876D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EF7D7CF3-D8E3-3750-EA9E-B00F1D6899FD}"/>
              </a:ext>
            </a:extLst>
          </p:cNvPr>
          <p:cNvSpPr/>
          <p:nvPr/>
        </p:nvSpPr>
        <p:spPr>
          <a:xfrm rot="5400000">
            <a:off x="-3372356" y="3372356"/>
            <a:ext cx="6858000" cy="113288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20624" y="3474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gradFill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0" scaled="0"/>
                </a:gradFill>
                <a:latin typeface="Segoe UI Variable Display Semibold"/>
              </a:rPr>
              <a:t>Agente 3 · Weather Assistant (LangChain)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21792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egoe UI Variable Display Semibold"/>
              </a:rPr>
              <a:t>Flujo de una petición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173736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75564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Pregunta y canal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25856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«¿Qué tiempo hace en Sevilla?» → Bot Service → puente (entorno ACA del puente).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82112" y="2674620"/>
            <a:ext cx="164592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64992" y="160020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02152" y="173736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175564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Usuario autorizado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225856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OAuth del Bot, lista de usuarios y Graph /me.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8464" y="2674620"/>
            <a:ext cx="164592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81344" y="160020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18504" y="173736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3" y="175564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Token para el 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25856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Identidad del puente → token Entra de app para la API Weather Agent MCP.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14815" y="2674620"/>
            <a:ext cx="164593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97696" y="160020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34856" y="173736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6" y="175564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tools/call por HTTPS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225856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ask_weather_agent al MCP público del otro entorno; sin token o sin rol → 401.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02336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416052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17880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Razonamiento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68172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LangChain + gpt-5.6-luna (token Entra del agente) decide usar las herramientas.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182112" y="5097780"/>
            <a:ext cx="164592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364992" y="402336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02152" y="416052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13632" y="417880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Geocoding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9584" y="468172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OpenMeteo-Geocoding «Search location» → latitud y longitud del primer resultado.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98464" y="5097780"/>
            <a:ext cx="164592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181344" y="402336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18504" y="416052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9983" y="417880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Previsión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468172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OpenMeteo-Weather «Get weather forecast» con esas coordenadas → tiempo actual.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814815" y="5097780"/>
            <a:ext cx="164593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997696" y="402336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134856" y="416052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6336" y="417880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Respuesta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62288" y="468172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En el idioma del usuario → MCP → puente → stream de Copilot.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EF7D7CF3-D8E3-3750-EA9E-B00F1D6899FD}"/>
              </a:ext>
            </a:extLst>
          </p:cNvPr>
          <p:cNvSpPr/>
          <p:nvPr/>
        </p:nvSpPr>
        <p:spPr>
          <a:xfrm rot="5400000">
            <a:off x="-3372356" y="3372356"/>
            <a:ext cx="6858000" cy="113288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20624" y="3474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gradFill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0" scaled="0"/>
                </a:gradFill>
                <a:latin typeface="Segoe UI Variable Display Semibold"/>
              </a:rPr>
              <a:t>Comparativa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21792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egoe UI Variable Display Semibold"/>
              </a:rPr>
              <a:t>Las tres versiones en paralelo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417320"/>
          <a:ext cx="111099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971800"/>
                <a:gridCol w="2971800"/>
                <a:gridCol w="3017520"/>
              </a:tblGrid>
              <a:tr h="5715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Variable Display Semibold"/>
                        </a:rPr>
                        <a:t/>
                      </a:r>
                    </a:p>
                  </a:txBody>
                  <a:tcPr marL="91440" marR="91440" anchor="ctr">
                    <a:solidFill>
                      <a:srgbClr val="0876D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Variable Display Semibold"/>
                        </a:rPr>
                        <a:t>Directa (GCP)</a:t>
                      </a:r>
                    </a:p>
                  </a:txBody>
                  <a:tcPr marL="91440" marR="91440" anchor="ctr">
                    <a:solidFill>
                      <a:srgbClr val="0876D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Variable Display Semibold"/>
                        </a:rPr>
                        <a:t>MCP (GCP)</a:t>
                      </a:r>
                    </a:p>
                  </a:txBody>
                  <a:tcPr marL="91440" marR="91440" anchor="ctr">
                    <a:solidFill>
                      <a:srgbClr val="0876D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Variable Display Semibold"/>
                        </a:rPr>
                        <a:t>LangChain (ACA)</a:t>
                      </a:r>
                    </a:p>
                  </a:txBody>
                  <a:tcPr marL="91440" marR="91440" anchor="ctr">
                    <a:solidFill>
                      <a:srgbClr val="0876D3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91F2C"/>
                          </a:solidFill>
                          <a:latin typeface="Segoe UI Variable Display Semibold"/>
                        </a:rPr>
                        <a:t>Agente</a:t>
                      </a:r>
                    </a:p>
                  </a:txBody>
                  <a:tcPr marL="91440" marR="91440" anchor="ctr">
                    <a:solidFill>
                      <a:srgbClr val="CFE0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ADK en Vertex AI Agent Engine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El mismo agente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LangChain en ACA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91F2C"/>
                          </a:solidFill>
                          <a:latin typeface="Segoe UI Variable Display Semibold"/>
                        </a:rPr>
                        <a:t>Puente → agente</a:t>
                      </a:r>
                    </a:p>
                  </a:txBody>
                  <a:tcPr marL="91440" marR="91440" anchor="ctr">
                    <a:solidFill>
                      <a:srgbClr val="CFE0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REST de Agent Engine</a:t>
                      </a:r>
                    </a:p>
                  </a:txBody>
                  <a:tcPr marL="91440" marR="9144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MCP interno (mismo entorno ACA)</a:t>
                      </a:r>
                    </a:p>
                  </a:txBody>
                  <a:tcPr marL="91440" marR="9144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MCP público protegido por Entra (otro entorno)</a:t>
                      </a:r>
                    </a:p>
                  </a:txBody>
                  <a:tcPr marL="91440" marR="91440" anchor="ctr">
                    <a:solidFill>
                      <a:srgbClr val="EEF2F8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91F2C"/>
                          </a:solidFill>
                          <a:latin typeface="Segoe UI Variable Display Semibold"/>
                        </a:rPr>
                        <a:t>Credenciales del backend</a:t>
                      </a:r>
                    </a:p>
                  </a:txBody>
                  <a:tcPr marL="91440" marR="91440" anchor="ctr">
                    <a:solidFill>
                      <a:srgbClr val="CFE0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El puente (federación GCP)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Solo el adaptador MCP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Solo el agente (modelo y herramientas)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91F2C"/>
                          </a:solidFill>
                          <a:latin typeface="Segoe UI Variable Display Semibold"/>
                        </a:rPr>
                        <a:t>Modelo</a:t>
                      </a:r>
                    </a:p>
                  </a:txBody>
                  <a:tcPr marL="91440" marR="91440" anchor="ctr">
                    <a:solidFill>
                      <a:srgbClr val="CFE0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Gemini 2.5 Flash</a:t>
                      </a:r>
                    </a:p>
                  </a:txBody>
                  <a:tcPr marL="91440" marR="9144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Gemini 2.5 Flash</a:t>
                      </a:r>
                    </a:p>
                  </a:txBody>
                  <a:tcPr marL="91440" marR="9144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gpt-5.6-luna (Foundry)</a:t>
                      </a:r>
                    </a:p>
                  </a:txBody>
                  <a:tcPr marL="91440" marR="91440" anchor="ctr">
                    <a:solidFill>
                      <a:srgbClr val="EEF2F8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91F2C"/>
                          </a:solidFill>
                          <a:latin typeface="Segoe UI Variable Display Semibold"/>
                        </a:rPr>
                        <a:t>Herramientas</a:t>
                      </a:r>
                    </a:p>
                  </a:txBody>
                  <a:tcPr marL="91440" marR="91440" anchor="ctr">
                    <a:solidFill>
                      <a:srgbClr val="CFE0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MCP CRM, ServiceNow, Vertex AI Search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Las mismas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OpenAPI de OpenMeteo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91F2C"/>
                          </a:solidFill>
                          <a:latin typeface="Segoe UI Variable Display Semibold"/>
                        </a:rPr>
                        <a:t>Reutilización</a:t>
                      </a:r>
                    </a:p>
                  </a:txBody>
                  <a:tcPr marL="91440" marR="91440" anchor="ctr">
                    <a:solidFill>
                      <a:srgbClr val="CFE0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Solo el puente</a:t>
                      </a:r>
                    </a:p>
                  </a:txBody>
                  <a:tcPr marL="91440" marR="9144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Cualquier consumidor MCP del entorno</a:t>
                      </a:r>
                    </a:p>
                  </a:txBody>
                  <a:tcPr marL="91440" marR="9144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Cualquier consumidor MCP autorizado</a:t>
                      </a:r>
                    </a:p>
                  </a:txBody>
                  <a:tcPr marL="91440" marR="91440" anchor="ctr">
                    <a:solidFill>
                      <a:srgbClr val="EEF2F8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91F2C"/>
                          </a:solidFill>
                          <a:latin typeface="Segoe UI Variable Display Semibold"/>
                        </a:rPr>
                        <a:t>Latencia típica</a:t>
                      </a:r>
                    </a:p>
                  </a:txBody>
                  <a:tcPr marL="91440" marR="91440" anchor="ctr">
                    <a:solidFill>
                      <a:srgbClr val="CFE0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20–150 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20–150 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4–10 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Rectangle 23">
            <a:extLst>
              <a:ext uri="{FF2B5EF4-FFF2-40B4-BE49-F238E27FC236}">
                <a16:creationId xmlns:a16="http://schemas.microsoft.com/office/drawing/2014/main" id="{C7954D6D-8D5B-E8C6-DE7E-FE7952541210}"/>
              </a:ext>
            </a:extLst>
          </p:cNvPr>
          <p:cNvSpPr/>
          <p:nvPr/>
        </p:nvSpPr>
        <p:spPr>
          <a:xfrm>
            <a:off x="0" y="-14693"/>
            <a:ext cx="12192000" cy="152400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420624" y="3474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gradFill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0" scaled="0"/>
                </a:gradFill>
                <a:latin typeface="Segoe UI Variable Display Semibold"/>
              </a:rPr>
              <a:t>Seguridad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" y="621792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egoe UI Variable Display Semibold"/>
              </a:rPr>
              <a:t>Seguridad de extremo a extremo, sin secretos en el código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" y="117043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Las mismas capas en las tres versiones; cambia solo quién tiene credenciales hacia el backend.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1828800"/>
            <a:ext cx="2651760" cy="3566160"/>
          </a:xfrm>
          <a:prstGeom prst="roundRect">
            <a:avLst>
              <a:gd name="adj" fmla="val 8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3232" y="1993392"/>
            <a:ext cx="310896" cy="310896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2011680"/>
            <a:ext cx="192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Canal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2395728"/>
            <a:ext cx="2286000" cy="2907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JWT de Bot Framework validado por el SDK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Sin JWT → 401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Solo HTTPS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64992" y="1828800"/>
            <a:ext cx="2651760" cy="3566160"/>
          </a:xfrm>
          <a:prstGeom prst="roundRect">
            <a:avLst>
              <a:gd name="adj" fmla="val 8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29584" y="1993392"/>
            <a:ext cx="310896" cy="310896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2011680"/>
            <a:ext cx="192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Usuario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7872" y="2395728"/>
            <a:ext cx="2286000" cy="2907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Inicio de sesión Entra (OAuth del Bot)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Tenant y lista de usuarios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Graph /me = remitente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81344" y="1828800"/>
            <a:ext cx="2651760" cy="3566160"/>
          </a:xfrm>
          <a:prstGeom prst="roundRect">
            <a:avLst>
              <a:gd name="adj" fmla="val 8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45936" y="1993392"/>
            <a:ext cx="310896" cy="310896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8272" y="2011680"/>
            <a:ext cx="192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Servicio → MCP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4224" y="2395728"/>
            <a:ext cx="2286000" cy="2907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Token de app de la identidad del puente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Rol Agent.Invoke con asignación obligatoria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Client IDs permitidos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97696" y="1828800"/>
            <a:ext cx="2651760" cy="3566160"/>
          </a:xfrm>
          <a:prstGeom prst="roundRect">
            <a:avLst>
              <a:gd name="adj" fmla="val 8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162288" y="1993392"/>
            <a:ext cx="310896" cy="310896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64624" y="2011680"/>
            <a:ext cx="192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Backend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0576" y="2395728"/>
            <a:ext cx="2286000" cy="29077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GCP: Workload Identity Federation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Foundry: identidad administrada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Permisos por recurso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A"/>
                </a:solidFill>
                <a:latin typeface="Segoe UI Variable Text"/>
              </a:rPr>
              <a:t>Secretos del Bot solo como secreto de Container Apps y en la conexión OAuth · rotación con el script de despliegue · imágenes sin .env ni datos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Rectangle 23">
            <a:extLst>
              <a:ext uri="{FF2B5EF4-FFF2-40B4-BE49-F238E27FC236}">
                <a16:creationId xmlns:a16="http://schemas.microsoft.com/office/drawing/2014/main" id="{C7954D6D-8D5B-E8C6-DE7E-FE7952541210}"/>
              </a:ext>
            </a:extLst>
          </p:cNvPr>
          <p:cNvSpPr/>
          <p:nvPr/>
        </p:nvSpPr>
        <p:spPr>
          <a:xfrm>
            <a:off x="0" y="-14693"/>
            <a:ext cx="12192000" cy="152400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420624" y="3474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gradFill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0" scaled="0"/>
                </a:gradFill>
                <a:latin typeface="Segoe UI Variable Display Semibold"/>
              </a:rPr>
              <a:t>Aprendizajes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" y="621792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egoe UI Variable Display Semibold"/>
              </a:rPr>
              <a:t>Lecciones aprendidas en la integración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1600200"/>
            <a:ext cx="2651760" cy="2103120"/>
          </a:xfrm>
          <a:prstGeom prst="roundRect">
            <a:avLst>
              <a:gd name="adj" fmla="val 8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1801368"/>
            <a:ext cx="2286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Canal M365 Extensions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Sin él, Teams funciona pero Copilot no entrega los mensajes al agente.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64992" y="1600200"/>
            <a:ext cx="2651760" cy="2103120"/>
          </a:xfrm>
          <a:prstGeom prst="roundRect">
            <a:avLst>
              <a:gd name="adj" fmla="val 8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1801368"/>
            <a:ext cx="2286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Copilot no es chat personal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Llega como msteams:COPILOT y conversación 19:…@thread.v2.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81344" y="1600200"/>
            <a:ext cx="2651760" cy="2103120"/>
          </a:xfrm>
          <a:prstGeom prst="roundRect">
            <a:avLst>
              <a:gd name="adj" fmla="val 8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1801368"/>
            <a:ext cx="2286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Streaming obligatorio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Copilot corta a los 45 s: aviso de progreso y keep-alive cada 35 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97696" y="1600200"/>
            <a:ext cx="2651760" cy="2103120"/>
          </a:xfrm>
          <a:prstGeom prst="roundRect">
            <a:avLst>
              <a:gd name="adj" fmla="val 8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98864" y="1801368"/>
            <a:ext cx="2286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Comandos reservados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Copilot intercepta /help: usar «ayuda» y «reiniciar».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931920"/>
            <a:ext cx="2651760" cy="2103120"/>
          </a:xfrm>
          <a:prstGeom prst="roundRect">
            <a:avLst>
              <a:gd name="adj" fmla="val 8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4133087"/>
            <a:ext cx="2286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Texto enriquecido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Copilot envía HTML del compositor: normalizar a texto plano.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64992" y="3931920"/>
            <a:ext cx="2651760" cy="2103120"/>
          </a:xfrm>
          <a:prstGeom prst="roundRect">
            <a:avLst>
              <a:gd name="adj" fmla="val 8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60" y="4133087"/>
            <a:ext cx="2286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Federación con claims reales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La aud del token MI es el GUID de AzureADTokenExchange, no la URI.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81344" y="3931920"/>
            <a:ext cx="2651760" cy="2103120"/>
          </a:xfrm>
          <a:prstGeom prst="roundRect">
            <a:avLst>
              <a:gd name="adj" fmla="val 8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4133087"/>
            <a:ext cx="2286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Dependencias en frío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Herramientas que escalan a cero: calentar antes de la demo.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97696" y="3931920"/>
            <a:ext cx="2651760" cy="2103120"/>
          </a:xfrm>
          <a:prstGeom prst="roundRect">
            <a:avLst>
              <a:gd name="adj" fmla="val 8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4" y="4133087"/>
            <a:ext cx="22860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Gobierno del tenant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Service Tree, CAE y políticas de almacenamiento → diseño sin estado.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flip="none" rotWithShape="1">
          <a:gsLst>
            <a:gs pos="25000">
              <a:srgbClr val="0876D3">
                <a:alpha val="10000"/>
                <a:lumMod val="100000"/>
              </a:srgbClr>
            </a:gs>
            <a:gs pos="78000">
              <a:srgbClr val="FE9A63">
                <a:alpha val="10000"/>
              </a:srgbClr>
            </a:gs>
            <a:gs pos="0">
              <a:srgbClr val="18BDE9">
                <a:alpha val="10000"/>
              </a:srgbClr>
            </a:gs>
            <a:gs pos="55000">
              <a:srgbClr val="CA18B5">
                <a:alpha val="10000"/>
              </a:srgb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9" name="Graphic 8">
            <a:extLst>
              <a:ext uri="{FF2B5EF4-FFF2-40B4-BE49-F238E27FC236}">
                <a16:creationId xmlns:a16="http://schemas.microsoft.com/office/drawing/2014/main" id="{07DB022B-8A6D-5FEA-232A-B7CF43A1D4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4550" y="1992631"/>
            <a:ext cx="704849" cy="70484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9DA63AC-EC06-7FA3-3A4B-B7C54D3323A5}"/>
              </a:ext>
            </a:extLst>
          </p:cNvPr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itle 5">
            <a:extLst>
              <a:ext uri="{FF2B5EF4-FFF2-40B4-BE49-F238E27FC236}">
                <a16:creationId xmlns:a16="http://schemas.microsoft.com/office/drawing/2014/main" id="{5C7D06D1-23BC-8FB9-0F79-AE3F9762F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305249"/>
            <a:ext cx="10515600" cy="988695"/>
          </a:xfrm>
        </p:spPr>
        <p:txBody>
          <a:bodyPr>
            <a:noAutofit/>
          </a:bodyPr>
          <a:lstStyle/>
          <a:p>
            <a:r>
              <a:rPr lang="en-US" sz="4200" b="1">
                <a:latin typeface="Segoe UI Variable Display Semibold" pitchFamily="2" charset="0"/>
                <a:cs typeface="Segoe UI Variable Display Semibold" pitchFamily="2" charset="0"/>
              </a:rPr>
              <a:t>Escalar a 800 agentes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6EF5F4BE-EADE-085A-584D-2A04E3111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320932"/>
            <a:ext cx="10515600" cy="485457"/>
          </a:xfrm>
        </p:spPr>
        <p:txBody>
          <a:bodyPr>
            <a:noAutofit/>
          </a:bodyPr>
          <a:lstStyle/>
          <a:p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latin typeface="Segoe UI Variable Text" pitchFamily="2" charset="0"/>
                <a:cs typeface="Segoe UI Variable Text" pitchFamily="2" charset="0"/>
              </a:rPr>
              <a:t>Opción B · MCP de cada agente + un puente común, con permisos de Entra ID por usuario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EF7D7CF3-D8E3-3750-EA9E-B00F1D6899FD}"/>
              </a:ext>
            </a:extLst>
          </p:cNvPr>
          <p:cNvSpPr/>
          <p:nvPr/>
        </p:nvSpPr>
        <p:spPr>
          <a:xfrm rot="5400000">
            <a:off x="-3372356" y="3372356"/>
            <a:ext cx="6858000" cy="113288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20624" y="3474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gradFill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0" scaled="0"/>
                </a:gradFill>
                <a:latin typeface="Segoe UI Variable Display Semibold"/>
              </a:rPr>
              <a:t>Escalabilidad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21792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egoe UI Variable Display Semibold"/>
              </a:rPr>
              <a:t>Dos formas de llevar 800 agentes LangChain a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117043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La opción B reutiliza el patrón de la demo (puente → MCP → agente) y añade catálogo, gateway y permisos delegados.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691640"/>
          <a:ext cx="111099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3931920"/>
                <a:gridCol w="4663440"/>
              </a:tblGrid>
              <a:tr h="574765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Variable Display Semibold"/>
                        </a:rPr>
                        <a:t/>
                      </a:r>
                    </a:p>
                  </a:txBody>
                  <a:tcPr marL="91440" marR="91440" anchor="ctr">
                    <a:solidFill>
                      <a:srgbClr val="0876D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Variable Display Semibold"/>
                        </a:rPr>
                        <a:t>A · Agents SDK dentro de cada agente</a:t>
                      </a:r>
                    </a:p>
                  </a:txBody>
                  <a:tcPr marL="91440" marR="91440" anchor="ctr">
                    <a:solidFill>
                      <a:srgbClr val="0876D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Variable Display Semibold"/>
                        </a:rPr>
                        <a:t>B · MCP de cada agente + puente común (recomendada)</a:t>
                      </a:r>
                    </a:p>
                  </a:txBody>
                  <a:tcPr marL="91440" marR="91440" anchor="ctr">
                    <a:solidFill>
                      <a:srgbClr val="0876D3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91F2C"/>
                          </a:solidFill>
                          <a:latin typeface="Segoe UI Variable Display Semibold"/>
                        </a:rPr>
                        <a:t>Cambios en los agentes</a:t>
                      </a:r>
                    </a:p>
                  </a:txBody>
                  <a:tcPr marL="91440" marR="91440" anchor="ctr">
                    <a:solidFill>
                      <a:srgbClr val="CFE0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800 cambios: canal, OAuth, streaming, comandos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Ninguno si ya exponen MCP; si no, una plantilla común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91F2C"/>
                          </a:solidFill>
                          <a:latin typeface="Segoe UI Variable Display Semibold"/>
                        </a:rPr>
                        <a:t>Bots y apps de Entra del canal</a:t>
                      </a:r>
                    </a:p>
                  </a:txBody>
                  <a:tcPr marL="91440" marR="91440" anchor="ctr">
                    <a:solidFill>
                      <a:srgbClr val="CFE0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800</a:t>
                      </a:r>
                    </a:p>
                  </a:txBody>
                  <a:tcPr marL="91440" marR="9144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Uno por agente de dominio (10–30)</a:t>
                      </a:r>
                    </a:p>
                  </a:txBody>
                  <a:tcPr marL="91440" marR="91440" anchor="ctr">
                    <a:solidFill>
                      <a:srgbClr val="EEF2F8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91F2C"/>
                          </a:solidFill>
                          <a:latin typeface="Segoe UI Variable Display Semibold"/>
                        </a:rPr>
                        <a:t>Paquetes de app en M365</a:t>
                      </a:r>
                    </a:p>
                  </a:txBody>
                  <a:tcPr marL="91440" marR="91440" anchor="ctr">
                    <a:solidFill>
                      <a:srgbClr val="CFE0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800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10–30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91F2C"/>
                          </a:solidFill>
                          <a:latin typeface="Segoe UI Variable Display Semibold"/>
                        </a:rPr>
                        <a:t>Experiencia en Copilot</a:t>
                      </a:r>
                    </a:p>
                  </a:txBody>
                  <a:tcPr marL="91440" marR="91440" anchor="ctr">
                    <a:solidFill>
                      <a:srgbClr val="CFE0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800 entradas en la tienda de agentes</a:t>
                      </a:r>
                    </a:p>
                  </a:txBody>
                  <a:tcPr marL="91440" marR="9144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Pocos agentes por dominio que enrutan al agente adecuado</a:t>
                      </a:r>
                    </a:p>
                  </a:txBody>
                  <a:tcPr marL="91440" marR="91440" anchor="ctr">
                    <a:solidFill>
                      <a:srgbClr val="EEF2F8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91F2C"/>
                          </a:solidFill>
                          <a:latin typeface="Segoe UI Variable Display Semibold"/>
                        </a:rPr>
                        <a:t>Acoplamiento</a:t>
                      </a:r>
                    </a:p>
                  </a:txBody>
                  <a:tcPr marL="91440" marR="91440" anchor="ctr">
                    <a:solidFill>
                      <a:srgbClr val="CFE0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Cada agente atado al canal de M365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Los agentes no conocen M365; el MCP sirve a otros consumidores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91F2C"/>
                          </a:solidFill>
                          <a:latin typeface="Segoe UI Variable Display Semibold"/>
                        </a:rPr>
                        <a:t>Evolución del SDK o del canal</a:t>
                      </a:r>
                    </a:p>
                  </a:txBody>
                  <a:tcPr marL="91440" marR="91440" anchor="ctr">
                    <a:solidFill>
                      <a:srgbClr val="CFE0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800 bases de código</a:t>
                      </a:r>
                    </a:p>
                  </a:txBody>
                  <a:tcPr marL="91440" marR="9144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Un puente</a:t>
                      </a:r>
                    </a:p>
                  </a:txBody>
                  <a:tcPr marL="91440" marR="91440" anchor="ctr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A"/>
                </a:solidFill>
                <a:latin typeface="Segoe UI Variable Text"/>
              </a:rPr>
              <a:t>La opción A solo se justifica para unos pocos agentes «estrella» que necesiten una experiencia propia en Copilot.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EF7D7CF3-D8E3-3750-EA9E-B00F1D6899FD}"/>
              </a:ext>
            </a:extLst>
          </p:cNvPr>
          <p:cNvSpPr/>
          <p:nvPr/>
        </p:nvSpPr>
        <p:spPr>
          <a:xfrm rot="5400000">
            <a:off x="-3372356" y="3372356"/>
            <a:ext cx="6858000" cy="113288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20624" y="3474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gradFill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0" scaled="0"/>
                </a:gradFill>
                <a:latin typeface="Segoe UI Variable Display Semibold"/>
              </a:rPr>
              <a:t>Escalabilidad · Opción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21792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egoe UI Variable Display Semibold"/>
              </a:rPr>
              <a:t>Arquitectura objetivo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25880"/>
            <a:ext cx="2606040" cy="51663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B9C7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Segoe UI"/>
              </a:rPr>
              <a:t>MICROSOFT 365 · TENANT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737360"/>
            <a:ext cx="2240280" cy="73152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Usuario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M365 Copilot · Teams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834640"/>
            <a:ext cx="2240280" cy="100584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Agentes de Copilot por dominio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Finanzas · RR. HH. · Ventas…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10–30 paquetes de 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206240"/>
            <a:ext cx="2240280" cy="96012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Azure Bot Service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un bot por dominio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OAuth / SSO del usuario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440680"/>
            <a:ext cx="2240280" cy="822960"/>
          </a:xfrm>
          <a:prstGeom prst="roundRect">
            <a:avLst>
              <a:gd name="adj" fmla="val 12000"/>
            </a:avLst>
          </a:prstGeom>
          <a:solidFill>
            <a:srgbClr val="CFE0ED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91F2C"/>
                </a:solidFill>
                <a:latin typeface="Segoe UI Variable Display Semibold"/>
              </a:rPr>
              <a:t>Centro de administración</a:t>
            </a:r>
          </a:p>
          <a:p>
            <a:pPr algn="ctr"/>
            <a:r>
              <a:rPr sz="800" b="0">
                <a:solidFill>
                  <a:srgbClr val="091F2C"/>
                </a:solidFill>
                <a:latin typeface="Segoe UI Variable Text"/>
              </a:rPr>
              <a:t>cada agente de dominio, solo a sus grupos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1325880"/>
            <a:ext cx="2788920" cy="51663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B9C7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41732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Segoe UI"/>
              </a:rPr>
              <a:t>ACA · ENTORNO DEL CANAL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1737360"/>
            <a:ext cx="2423160" cy="82296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91F2C"/>
                </a:solidFill>
                <a:latin typeface="Segoe UI Variable Display Semibold"/>
              </a:rPr>
              <a:t>Estado de conversación</a:t>
            </a:r>
          </a:p>
          <a:p>
            <a:pPr algn="ctr"/>
            <a:r>
              <a:rPr sz="800" b="0">
                <a:solidFill>
                  <a:srgbClr val="091F2C"/>
                </a:solidFill>
                <a:latin typeface="Segoe UI Variable Text"/>
              </a:rPr>
              <a:t>Redis / Cosmos DB · agente fijado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2926080"/>
            <a:ext cx="2423160" cy="86868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Enrutador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filtro por roles + LLM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4160520"/>
            <a:ext cx="2423160" cy="1051560"/>
          </a:xfrm>
          <a:prstGeom prst="roundRect">
            <a:avLst>
              <a:gd name="adj" fmla="val 12000"/>
            </a:avLst>
          </a:prstGeom>
          <a:solidFill>
            <a:srgbClr val="08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 Variable Display Semibold"/>
              </a:rPr>
              <a:t>Puente multi-bot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Segoe UI Variable Text"/>
              </a:rPr>
              <a:t>M365 Agents SDK · streaming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Segoe UI Variable Text"/>
              </a:rPr>
              <a:t>sin estado local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325880"/>
            <a:ext cx="2743200" cy="21031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B9C7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4173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Segoe UI"/>
              </a:rPr>
              <a:t>CATÁLOGO Y ENRUTADO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691640"/>
            <a:ext cx="1143000" cy="73152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91F2C"/>
                </a:solidFill>
                <a:latin typeface="Segoe UI Variable Display Semibold"/>
              </a:rPr>
              <a:t>API Center</a:t>
            </a:r>
          </a:p>
          <a:p>
            <a:pPr algn="ctr"/>
            <a:r>
              <a:rPr sz="800" b="0">
                <a:solidFill>
                  <a:srgbClr val="091F2C"/>
                </a:solidFill>
                <a:latin typeface="Segoe UI Variable Text"/>
              </a:rPr>
              <a:t>registro de MCP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79" y="1691640"/>
            <a:ext cx="1143000" cy="73152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91F2C"/>
                </a:solidFill>
                <a:latin typeface="Segoe UI Variable Display Semibold"/>
              </a:rPr>
              <a:t>AI Search</a:t>
            </a:r>
          </a:p>
          <a:p>
            <a:pPr algn="ctr"/>
            <a:r>
              <a:rPr sz="800" b="0">
                <a:solidFill>
                  <a:srgbClr val="091F2C"/>
                </a:solidFill>
                <a:latin typeface="Segoe UI Variable Text"/>
              </a:rPr>
              <a:t>fichas por rol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606040"/>
            <a:ext cx="2468880" cy="64008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91F2C"/>
                </a:solidFill>
                <a:latin typeface="Segoe UI Variable Display Semibold"/>
              </a:rPr>
              <a:t>Microsoft Foundry</a:t>
            </a:r>
          </a:p>
          <a:p>
            <a:pPr algn="ctr"/>
            <a:r>
              <a:rPr sz="800" b="0">
                <a:solidFill>
                  <a:srgbClr val="091F2C"/>
                </a:solidFill>
                <a:latin typeface="Segoe UI Variable Text"/>
              </a:rPr>
              <a:t>modelo del enrutador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611880"/>
            <a:ext cx="2651760" cy="685800"/>
          </a:xfrm>
          <a:prstGeom prst="roundRect">
            <a:avLst>
              <a:gd name="adj" fmla="val 12000"/>
            </a:avLst>
          </a:prstGeom>
          <a:solidFill>
            <a:srgbClr val="CFE0ED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91F2C"/>
                </a:solidFill>
                <a:latin typeface="Segoe UI Variable Display Semibold"/>
              </a:rPr>
              <a:t>Azure API Management</a:t>
            </a:r>
          </a:p>
          <a:p>
            <a:pPr algn="ctr"/>
            <a:r>
              <a:rPr sz="800" b="0">
                <a:solidFill>
                  <a:srgbClr val="091F2C"/>
                </a:solidFill>
                <a:latin typeface="Segoe UI Variable Text"/>
              </a:rPr>
              <a:t>gateway MCP · validate-jwt + rol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526280"/>
            <a:ext cx="2743200" cy="19659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B9C7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6177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Segoe UI"/>
              </a:rPr>
              <a:t>MICROSOFT ENTRA 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937760"/>
            <a:ext cx="1097280" cy="118872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91F2C"/>
                </a:solidFill>
                <a:latin typeface="Segoe UI Variable Display Semibold"/>
              </a:rPr>
              <a:t>Grupos</a:t>
            </a:r>
          </a:p>
          <a:p>
            <a:pPr algn="ctr"/>
            <a:r>
              <a:rPr sz="800" b="0">
                <a:solidFill>
                  <a:srgbClr val="091F2C"/>
                </a:solidFill>
                <a:latin typeface="Segoe UI Variable Text"/>
              </a:rPr>
              <a:t>Access Packages · revisiones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4937760"/>
            <a:ext cx="1188720" cy="118872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91F2C"/>
                </a:solidFill>
                <a:latin typeface="Segoe UI Variable Display Semibold"/>
              </a:rPr>
              <a:t>API por dominio</a:t>
            </a:r>
          </a:p>
          <a:p>
            <a:pPr algn="ctr"/>
            <a:r>
              <a:rPr sz="800" b="0">
                <a:solidFill>
                  <a:srgbClr val="091F2C"/>
                </a:solidFill>
                <a:latin typeface="Segoe UI Variable Text"/>
              </a:rPr>
              <a:t>app role por agente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1325880"/>
            <a:ext cx="2560320" cy="51663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B9C7D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14173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Segoe UI"/>
              </a:rPr>
              <a:t>ACA · AGENTES (INGRESS INTERNO)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18320" y="1783080"/>
            <a:ext cx="2194560" cy="6858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MCP agente 1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LangChain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0" y="2697480"/>
            <a:ext cx="2194560" cy="6858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MCP agente 2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LangChain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34015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18320" y="3840480"/>
            <a:ext cx="2194560" cy="68580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091F2C"/>
                </a:solidFill>
                <a:latin typeface="Segoe UI Variable Display Semibold"/>
              </a:rPr>
              <a:t>MCP agente 800</a:t>
            </a:r>
          </a:p>
          <a:p>
            <a:pPr algn="ctr"/>
            <a:r>
              <a:rPr sz="900" b="0">
                <a:solidFill>
                  <a:srgbClr val="091F2C"/>
                </a:solidFill>
                <a:latin typeface="Segoe UI Variable Text"/>
              </a:rPr>
              <a:t>LangChain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18320" y="4846320"/>
            <a:ext cx="2194560" cy="1371600"/>
          </a:xfrm>
          <a:prstGeom prst="roundRect">
            <a:avLst>
              <a:gd name="adj" fmla="val 12000"/>
            </a:avLst>
          </a:prstGeom>
          <a:solidFill>
            <a:srgbClr val="CFE0ED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>
                <a:solidFill>
                  <a:srgbClr val="091F2C"/>
                </a:solidFill>
                <a:latin typeface="Segoe UI Variable Display Semibold"/>
              </a:rPr>
              <a:t>Contrato estándar</a:t>
            </a:r>
          </a:p>
          <a:p>
            <a:pPr algn="ctr"/>
            <a:r>
              <a:rPr sz="800" b="0">
                <a:solidFill>
                  <a:srgbClr val="091F2C"/>
                </a:solidFill>
                <a:latin typeface="Segoe UI Variable Text"/>
              </a:rPr>
              <a:t>ask(message, conversation_id)</a:t>
            </a:r>
          </a:p>
          <a:p>
            <a:pPr algn="ctr"/>
            <a:r>
              <a:rPr sz="800" b="0">
                <a:solidFill>
                  <a:srgbClr val="091F2C"/>
                </a:solidFill>
                <a:latin typeface="Segoe UI Variable Text"/>
              </a:rPr>
              <a:t>ficha en el catálogo</a:t>
            </a:r>
          </a:p>
          <a:p>
            <a:pPr algn="ctr"/>
            <a:r>
              <a:rPr sz="800" b="0">
                <a:solidFill>
                  <a:srgbClr val="091F2C"/>
                </a:solidFill>
                <a:latin typeface="Segoe UI Variable Text"/>
              </a:rPr>
              <a:t>sin cambios de código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09928" y="2468880"/>
            <a:ext cx="0" cy="36576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828800" y="2532888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1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709928" y="3840480"/>
            <a:ext cx="0" cy="36576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828800" y="3904487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2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834640" y="4681728"/>
            <a:ext cx="548640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971800" y="4315968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3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4590288" y="3794760"/>
            <a:ext cx="0" cy="36576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709160" y="3858768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5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4590288" y="2560320"/>
            <a:ext cx="0" cy="365760"/>
          </a:xfrm>
          <a:prstGeom prst="line">
            <a:avLst/>
          </a:prstGeom>
          <a:ln w="19050">
            <a:solidFill>
              <a:srgbClr val="0876D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806440" y="2743200"/>
            <a:ext cx="457200" cy="41148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5897880" y="2697480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6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5806440" y="3977639"/>
            <a:ext cx="502920" cy="457201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852160" y="3950208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7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806440" y="4983480"/>
            <a:ext cx="457200" cy="45720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5852160" y="5257800"/>
            <a:ext cx="274320" cy="2468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0876D3"/>
                </a:solidFill>
                <a:latin typeface="Segoe UI"/>
              </a:rPr>
              <a:t>4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7543800" y="2057400"/>
            <a:ext cx="182879" cy="0"/>
          </a:xfrm>
          <a:prstGeom prst="line">
            <a:avLst/>
          </a:prstGeom>
          <a:ln w="19050">
            <a:solidFill>
              <a:srgbClr val="0876D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498079" y="5532120"/>
            <a:ext cx="182881" cy="0"/>
          </a:xfrm>
          <a:prstGeom prst="line">
            <a:avLst/>
          </a:prstGeom>
          <a:ln w="19050">
            <a:solidFill>
              <a:srgbClr val="0876D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961120" y="2121408"/>
            <a:ext cx="457200" cy="182880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961120" y="3035808"/>
            <a:ext cx="457200" cy="91440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961120" y="3950208"/>
            <a:ext cx="457200" cy="22860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942832" y="422452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EF7D7CF3-D8E3-3750-EA9E-B00F1D6899FD}"/>
              </a:ext>
            </a:extLst>
          </p:cNvPr>
          <p:cNvSpPr/>
          <p:nvPr/>
        </p:nvSpPr>
        <p:spPr>
          <a:xfrm rot="5400000">
            <a:off x="-3372356" y="3372356"/>
            <a:ext cx="6858000" cy="113288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20624" y="3474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gradFill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0" scaled="0"/>
                </a:gradFill>
                <a:latin typeface="Segoe UI Variable Display Semibold"/>
              </a:rPr>
              <a:t>Escalabilidad · Opción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21792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egoe UI Variable Display Semibold"/>
              </a:rPr>
              <a:t>Flujo de una petición con permisos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020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173736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75564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Agente de dominio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25856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El usuario abre el agente de su dominio (p. ej. Finanzas), publicado solo a sus grupos.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82112" y="2674620"/>
            <a:ext cx="164592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64992" y="160020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02152" y="173736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2" y="175564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Bot del dominio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225856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Copilot entrega el mensaje al bot del dominio; todos los bots apuntan al mismo puente.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8464" y="2674620"/>
            <a:ext cx="164592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81344" y="160020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18504" y="173736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3" y="175564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Puente multi-bot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25856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Valida el JWT del canal: el aud identifica el bot y, con él, el dominio.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14815" y="2674620"/>
            <a:ext cx="164593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97696" y="160020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34856" y="173736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6" y="175564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Token delegado (OBO)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225856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SSO del usuario + On-Behalf-Of → token para la API del dominio con sus roles.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02336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5800" y="416052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17880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Enrutador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68172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Pregunta + roles + dominio. Reutiliza el agente fijado si la pregunta sigue en su ámbito.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182112" y="5097780"/>
            <a:ext cx="164592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364992" y="402336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502152" y="416052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13632" y="417880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Búsqueda segura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9584" y="468172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AI Search filtra por rol requerido ∈ roles; 5 candidatos → el LLM elige o pide aclaración.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98464" y="5097780"/>
            <a:ext cx="164592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181344" y="402336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18504" y="416052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9983" y="417880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Gateway MCP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468172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tools/call vía APIM: validate-jwt y rol exacto del agente; sin rol → 403.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814815" y="5097780"/>
            <a:ext cx="164593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997696" y="4023360"/>
            <a:ext cx="2615184" cy="214884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134856" y="4160520"/>
            <a:ext cx="329184" cy="329184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6336" y="4178808"/>
            <a:ext cx="19293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Agente LangChain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62288" y="4681728"/>
            <a:ext cx="23134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Responde por MCP; el puente lo transmite a Copilot en streaming.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EF7D7CF3-D8E3-3750-EA9E-B00F1D6899FD}"/>
              </a:ext>
            </a:extLst>
          </p:cNvPr>
          <p:cNvSpPr/>
          <p:nvPr/>
        </p:nvSpPr>
        <p:spPr>
          <a:xfrm rot="5400000">
            <a:off x="-3372356" y="3372356"/>
            <a:ext cx="6858000" cy="113288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20624" y="3474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gradFill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0" scaled="0"/>
                </a:gradFill>
                <a:latin typeface="Segoe UI Variable Display Semibold"/>
              </a:rPr>
              <a:t>Escalabilidad · Opción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21792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egoe UI Variable Display Semibold"/>
              </a:rPr>
              <a:t>Permisos por usuario con Entra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117043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El token de app de la demo pasa a ser un token delegado del usuario: los permisos viajan en el claim roles.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2514600" cy="86868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91F2C"/>
                </a:solidFill>
                <a:latin typeface="Segoe UI Variable Display Semibold"/>
              </a:rPr>
              <a:t>Grupos de seguridad</a:t>
            </a:r>
          </a:p>
          <a:p>
            <a:pPr algn="ctr"/>
            <a:r>
              <a:rPr sz="1000" b="0">
                <a:solidFill>
                  <a:srgbClr val="091F2C"/>
                </a:solidFill>
                <a:latin typeface="Segoe UI Variable Text"/>
              </a:rPr>
              <a:t>Access Packages · revisiones · PIM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81528" y="2212848"/>
            <a:ext cx="265176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64992" y="1783080"/>
            <a:ext cx="2514600" cy="86868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91F2C"/>
                </a:solidFill>
                <a:latin typeface="Segoe UI Variable Display Semibold"/>
              </a:rPr>
              <a:t>App role por agente</a:t>
            </a:r>
          </a:p>
          <a:p>
            <a:pPr algn="ctr"/>
            <a:r>
              <a:rPr sz="1000" b="0">
                <a:solidFill>
                  <a:srgbClr val="091F2C"/>
                </a:solidFill>
                <a:latin typeface="Segoe UI Variable Text"/>
              </a:rPr>
              <a:t>Agent.Invoke.&lt;agente&gt; en la API del dominio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97880" y="2212848"/>
            <a:ext cx="265176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81344" y="1783080"/>
            <a:ext cx="2514600" cy="86868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 w="12700">
            <a:solidFill>
              <a:srgbClr val="B9C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91F2C"/>
                </a:solidFill>
                <a:latin typeface="Segoe UI Variable Display Semibold"/>
              </a:rPr>
              <a:t>Token delegado (OBO)</a:t>
            </a:r>
          </a:p>
          <a:p>
            <a:pPr algn="ctr"/>
            <a:r>
              <a:rPr sz="1000" b="0">
                <a:solidFill>
                  <a:srgbClr val="091F2C"/>
                </a:solidFill>
                <a:latin typeface="Segoe UI Variable Text"/>
              </a:rPr>
              <a:t>aud api://agents-&lt;dominio&gt;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14232" y="2212848"/>
            <a:ext cx="265176" cy="0"/>
          </a:xfrm>
          <a:prstGeom prst="line">
            <a:avLst/>
          </a:prstGeom>
          <a:ln w="19050">
            <a:solidFill>
              <a:srgbClr val="0876D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997696" y="1783080"/>
            <a:ext cx="2514600" cy="868680"/>
          </a:xfrm>
          <a:prstGeom prst="roundRect">
            <a:avLst>
              <a:gd name="adj" fmla="val 12000"/>
            </a:avLst>
          </a:prstGeom>
          <a:solidFill>
            <a:srgbClr val="087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 Variable Display Semibold"/>
              </a:rPr>
              <a:t>Claim roles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Segoe UI Variable Text"/>
              </a:rPr>
              <a:t>incluye roles heredados por grupo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017520"/>
            <a:ext cx="2103120" cy="25146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3182112"/>
            <a:ext cx="310896" cy="310896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200400"/>
            <a:ext cx="13715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Admin M365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584448"/>
            <a:ext cx="1737360" cy="185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Agente de dominio solo para sus grupos.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→ Visibilidad en Copilot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98064" y="3017520"/>
            <a:ext cx="2103120" cy="25146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62656" y="3182112"/>
            <a:ext cx="310896" cy="310896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4992" y="3200400"/>
            <a:ext cx="13715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Enrutador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80944" y="3584448"/>
            <a:ext cx="1737360" cy="185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Filtro rol requerido ∈ roles en la búsqueda.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→ Solo ve lo permitido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47488" y="3017520"/>
            <a:ext cx="2103120" cy="25146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12079" y="3182112"/>
            <a:ext cx="310896" cy="310896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14416" y="3200400"/>
            <a:ext cx="13715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APIM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3584448"/>
            <a:ext cx="1737360" cy="185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validate-jwt: firma, tenant, aud, scp y rol exacto.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→ Bloqueo real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6912" y="3017520"/>
            <a:ext cx="2103120" cy="25146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461504" y="3182112"/>
            <a:ext cx="310896" cy="310896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200400"/>
            <a:ext cx="13715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MCP del agente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584448"/>
            <a:ext cx="1737360" cy="185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Valida de nuevo el token, como entra_auth.py.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→ Por si se salta APIM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46336" y="3017520"/>
            <a:ext cx="2103120" cy="25146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710928" y="3182112"/>
            <a:ext cx="310896" cy="310896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13263" y="3200400"/>
            <a:ext cx="13715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Datos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9215" y="3584448"/>
            <a:ext cx="1737360" cy="1856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91F2C"/>
                </a:solidFill>
                <a:latin typeface="Segoe UI Variable Text"/>
              </a:rPr>
              <a:t>OBO del agente o identidad con permisos mínimos.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→ Permisos sobre datos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A"/>
                </a:solidFill>
                <a:latin typeface="Segoe UI Variable Text"/>
              </a:rPr>
              <a:t>Una API por dominio con un app role por agente evita 800 apps y el exceso de grupos en el token · Assignment required: sin ningún rol del dominio no hay token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Rectangle 23">
            <a:extLst>
              <a:ext uri="{FF2B5EF4-FFF2-40B4-BE49-F238E27FC236}">
                <a16:creationId xmlns:a16="http://schemas.microsoft.com/office/drawing/2014/main" id="{C7954D6D-8D5B-E8C6-DE7E-FE7952541210}"/>
              </a:ext>
            </a:extLst>
          </p:cNvPr>
          <p:cNvSpPr/>
          <p:nvPr/>
        </p:nvSpPr>
        <p:spPr>
          <a:xfrm>
            <a:off x="0" y="-14693"/>
            <a:ext cx="12192000" cy="152400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420624" y="3474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gradFill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0" scaled="0"/>
                </a:gradFill>
                <a:latin typeface="Segoe UI Variable Display Semibold"/>
              </a:rPr>
              <a:t>Escalabilidad · Opción 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" y="621792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egoe UI Variable Display Semibold"/>
              </a:rPr>
              <a:t>Operación, alta de agentes y plan por fases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1600200"/>
            <a:ext cx="2651760" cy="4114800"/>
          </a:xfrm>
          <a:prstGeom prst="roundRect">
            <a:avLst>
              <a:gd name="adj" fmla="val 8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13232" y="1764792"/>
            <a:ext cx="310896" cy="310896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1783080"/>
            <a:ext cx="192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Contrato MCP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2167128"/>
            <a:ext cx="2286000" cy="3456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ask(message, conversation_id)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reset opcional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Streamable HTTP + progreso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Token Entra obligatorio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Ficha: dominio, rol, ejemplos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64992" y="1600200"/>
            <a:ext cx="2651760" cy="4114800"/>
          </a:xfrm>
          <a:prstGeom prst="roundRect">
            <a:avLst>
              <a:gd name="adj" fmla="val 8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529584" y="1764792"/>
            <a:ext cx="310896" cy="310896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1783080"/>
            <a:ext cx="192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Escala y operación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7872" y="2167128"/>
            <a:ext cx="2286000" cy="3456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Puente sin estado, réplicas HTTP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Caché de tokens OBO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Varios entornos ACA por dominio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Escala a cero + calentado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Cuotas en APIM y Foundry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1344" y="1600200"/>
            <a:ext cx="2651760" cy="4114800"/>
          </a:xfrm>
          <a:prstGeom prst="roundRect">
            <a:avLst>
              <a:gd name="adj" fmla="val 8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45936" y="1764792"/>
            <a:ext cx="310896" cy="310896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2" y="1783080"/>
            <a:ext cx="192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Alta de un agente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4224" y="2167128"/>
            <a:ext cx="2286000" cy="3456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Desplegar en ACA (interno)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Ficha en API Center → AI Search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Ruta y política en APIM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App role + grupo en Entra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Sin tocar puente ni Copilot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97696" y="1600200"/>
            <a:ext cx="2651760" cy="4114800"/>
          </a:xfrm>
          <a:prstGeom prst="roundRect">
            <a:avLst>
              <a:gd name="adj" fmla="val 8000"/>
            </a:avLst>
          </a:prstGeom>
          <a:solidFill>
            <a:srgbClr val="CFE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62288" y="1764792"/>
            <a:ext cx="310896" cy="310896"/>
          </a:xfrm>
          <a:prstGeom prst="ellipse">
            <a:avLst/>
          </a:prstGeom>
          <a:solidFill>
            <a:srgbClr val="0A6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64624" y="1783080"/>
            <a:ext cx="192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876D3"/>
                </a:solidFill>
                <a:latin typeface="Segoe UI Variable Display Semibold"/>
              </a:rPr>
              <a:t>Plan por fases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0576" y="2167128"/>
            <a:ext cx="2286000" cy="3456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Piloto: 1 dominio, 10–20 agentes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Enrutado con AI Search + LLM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Industrializar: CI/CD, paneles</a:t>
            </a:r>
          </a:p>
          <a:p>
            <a:pPr algn="l" marL="171450" indent="-171450">
              <a:spcBef>
                <a:spcPts val="300"/>
              </a:spcBef>
              <a:buFont typeface="Arial"/>
              <a:buChar char="•"/>
            </a:pPr>
            <a:r>
              <a:rPr sz="1200" b="0">
                <a:solidFill>
                  <a:srgbClr val="091F2C"/>
                </a:solidFill>
                <a:latin typeface="Segoe UI Variable Text"/>
              </a:rPr>
              <a:t>Extender al resto de dominios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B6B7A"/>
                </a:solidFill>
                <a:latin typeface="Segoe UI Variable Text"/>
              </a:rPr>
              <a:t>Trazabilidad: el mismo identificador de correlación desde Copilot hasta el agente, en Application Insights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EF7D7CF3-D8E3-3750-EA9E-B00F1D6899FD}"/>
              </a:ext>
            </a:extLst>
          </p:cNvPr>
          <p:cNvSpPr/>
          <p:nvPr/>
        </p:nvSpPr>
        <p:spPr>
          <a:xfrm rot="5400000">
            <a:off x="-3372356" y="3372356"/>
            <a:ext cx="6858000" cy="113288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20624" y="3474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gradFill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0" scaled="0"/>
                </a:gradFill>
                <a:latin typeface="Segoe UI Variable Display Semibold"/>
              </a:rPr>
              <a:t>Escalabilidad · Opción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21792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egoe UI Variable Display Semibold"/>
              </a:rPr>
              <a:t>Qué cambia respecto a la demo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463040"/>
          <a:ext cx="111099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23360"/>
                <a:gridCol w="4343400"/>
              </a:tblGrid>
              <a:tr h="4978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Variable Display Semibold"/>
                        </a:rPr>
                        <a:t>Aspecto</a:t>
                      </a:r>
                    </a:p>
                  </a:txBody>
                  <a:tcPr marL="91440" marR="91440" anchor="ctr">
                    <a:solidFill>
                      <a:srgbClr val="0876D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Variable Display Semibold"/>
                        </a:rPr>
                        <a:t>Demo (Weather Assistant)</a:t>
                      </a:r>
                    </a:p>
                  </a:txBody>
                  <a:tcPr marL="91440" marR="91440" anchor="ctr">
                    <a:solidFill>
                      <a:srgbClr val="0876D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Variable Display Semibold"/>
                        </a:rPr>
                        <a:t>Escala (opción B)</a:t>
                      </a:r>
                    </a:p>
                  </a:txBody>
                  <a:tcPr marL="91440" marR="91440" anchor="ctr">
                    <a:solidFill>
                      <a:srgbClr val="0876D3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91F2C"/>
                          </a:solidFill>
                          <a:latin typeface="Segoe UI Variable Display Semibold"/>
                        </a:rPr>
                        <a:t>Agentes de Copilot</a:t>
                      </a:r>
                    </a:p>
                  </a:txBody>
                  <a:tcPr marL="91440" marR="91440" anchor="ctr">
                    <a:solidFill>
                      <a:srgbClr val="CFE0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Uno por agente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Uno por dominio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91F2C"/>
                          </a:solidFill>
                          <a:latin typeface="Segoe UI Variable Display Semibold"/>
                        </a:rPr>
                        <a:t>Bots</a:t>
                      </a:r>
                    </a:p>
                  </a:txBody>
                  <a:tcPr marL="91440" marR="91440" anchor="ctr">
                    <a:solidFill>
                      <a:srgbClr val="CFE0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Uno</a:t>
                      </a:r>
                    </a:p>
                  </a:txBody>
                  <a:tcPr marL="91440" marR="9144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Uno por dominio, mismo puente</a:t>
                      </a:r>
                    </a:p>
                  </a:txBody>
                  <a:tcPr marL="91440" marR="91440" anchor="ctr">
                    <a:solidFill>
                      <a:srgbClr val="EEF2F8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91F2C"/>
                          </a:solidFill>
                          <a:latin typeface="Segoe UI Variable Display Semibold"/>
                        </a:rPr>
                        <a:t>Token hacia el MCP</a:t>
                      </a:r>
                    </a:p>
                  </a:txBody>
                  <a:tcPr marL="91440" marR="91440" anchor="ctr">
                    <a:solidFill>
                      <a:srgbClr val="CFE0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De aplicación (identidad administrada, rol Agent.Invoke)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Delegado del usuario (OBO, rol por agente)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91F2C"/>
                          </a:solidFill>
                          <a:latin typeface="Segoe UI Variable Display Semibold"/>
                        </a:rPr>
                        <a:t>Autorización de usuarios</a:t>
                      </a:r>
                    </a:p>
                  </a:txBody>
                  <a:tcPr marL="91440" marR="91440" anchor="ctr">
                    <a:solidFill>
                      <a:srgbClr val="CFE0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Lista en el puente</a:t>
                      </a:r>
                    </a:p>
                  </a:txBody>
                  <a:tcPr marL="91440" marR="9144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App roles de Entra asignados a grupos</a:t>
                      </a:r>
                    </a:p>
                  </a:txBody>
                  <a:tcPr marL="91440" marR="91440" anchor="ctr">
                    <a:solidFill>
                      <a:srgbClr val="EEF2F8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91F2C"/>
                          </a:solidFill>
                          <a:latin typeface="Segoe UI Variable Display Semibold"/>
                        </a:rPr>
                        <a:t>Destino del puente</a:t>
                      </a:r>
                    </a:p>
                  </a:txBody>
                  <a:tcPr marL="91440" marR="91440" anchor="ctr">
                    <a:solidFill>
                      <a:srgbClr val="CFE0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Un MCP fijo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Elegido por el enrutador desde el catálogo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91F2C"/>
                          </a:solidFill>
                          <a:latin typeface="Segoe UI Variable Display Semibold"/>
                        </a:rPr>
                        <a:t>Acceso a los MCP</a:t>
                      </a:r>
                    </a:p>
                  </a:txBody>
                  <a:tcPr marL="91440" marR="91440" anchor="ctr">
                    <a:solidFill>
                      <a:srgbClr val="CFE0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Ingress externo protegido por Entra</a:t>
                      </a:r>
                    </a:p>
                  </a:txBody>
                  <a:tcPr marL="91440" marR="9144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APIM + ingress interno</a:t>
                      </a:r>
                    </a:p>
                  </a:txBody>
                  <a:tcPr marL="91440" marR="91440" anchor="ctr">
                    <a:solidFill>
                      <a:srgbClr val="EEF2F8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91F2C"/>
                          </a:solidFill>
                          <a:latin typeface="Segoe UI Variable Display Semibold"/>
                        </a:rPr>
                        <a:t>Estado del puente</a:t>
                      </a:r>
                    </a:p>
                  </a:txBody>
                  <a:tcPr marL="91440" marR="91440" anchor="ctr">
                    <a:solidFill>
                      <a:srgbClr val="CFE0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Ninguno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Agente fijado por conversación (Redis / Cosmos DB)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91F2C"/>
                          </a:solidFill>
                          <a:latin typeface="Segoe UI Variable Display Semibold"/>
                        </a:rPr>
                        <a:t>Código de los agentes</a:t>
                      </a:r>
                    </a:p>
                  </a:txBody>
                  <a:tcPr marL="91440" marR="91440" anchor="ctr">
                    <a:solidFill>
                      <a:srgbClr val="CFE0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Sin cambios</a:t>
                      </a:r>
                    </a:p>
                  </a:txBody>
                  <a:tcPr marL="91440" marR="91440" anchor="ctr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91F2C"/>
                          </a:solidFill>
                          <a:latin typeface="Segoe UI Variable Text"/>
                        </a:rPr>
                        <a:t>Sin cambios (contrato MCP estándar)</a:t>
                      </a:r>
                    </a:p>
                  </a:txBody>
                  <a:tcPr marL="91440" marR="91440" anchor="ctr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EF7D7CF3-D8E3-3750-EA9E-B00F1D6899FD}"/>
              </a:ext>
            </a:extLst>
          </p:cNvPr>
          <p:cNvSpPr/>
          <p:nvPr/>
        </p:nvSpPr>
        <p:spPr>
          <a:xfrm rot="5400000">
            <a:off x="-3372356" y="3372356"/>
            <a:ext cx="6858000" cy="113288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20624" y="3474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gradFill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0" scaled="0"/>
                </a:gradFill>
                <a:latin typeface="Segoe UI Variable Display Semibold"/>
              </a:rPr>
              <a:t>Anexo · Diagramas de secuencia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21792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egoe UI Variable Display Semibold"/>
              </a:rPr>
              <a:t>Renewal Risk Analyst · directo a GCP</a:t>
            </a:r>
          </a:p>
        </p:txBody>
      </p:sp>
      <p:pic>
        <p:nvPicPr>
          <p:cNvPr id="10" name="Picture 9" descr="seq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373" y="1234440"/>
            <a:ext cx="9474493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EF7D7CF3-D8E3-3750-EA9E-B00F1D6899FD}"/>
              </a:ext>
            </a:extLst>
          </p:cNvPr>
          <p:cNvSpPr/>
          <p:nvPr/>
        </p:nvSpPr>
        <p:spPr>
          <a:xfrm rot="5400000">
            <a:off x="-3372356" y="3372356"/>
            <a:ext cx="6858000" cy="113288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20624" y="3474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gradFill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0" scaled="0"/>
                </a:gradFill>
                <a:latin typeface="Segoe UI Variable Display Semibold"/>
              </a:rPr>
              <a:t>Anexo · Diagramas de secuencia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21792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egoe UI Variable Display Semibold"/>
              </a:rPr>
              <a:t>Renewal Risk Analyst (MCP)</a:t>
            </a:r>
          </a:p>
        </p:txBody>
      </p:sp>
      <p:pic>
        <p:nvPicPr>
          <p:cNvPr id="10" name="Picture 9" descr="seq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92840" cy="4931143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EF7D7CF3-D8E3-3750-EA9E-B00F1D6899FD}"/>
              </a:ext>
            </a:extLst>
          </p:cNvPr>
          <p:cNvSpPr/>
          <p:nvPr/>
        </p:nvSpPr>
        <p:spPr>
          <a:xfrm rot="5400000">
            <a:off x="-3372356" y="3372356"/>
            <a:ext cx="6858000" cy="113288"/>
          </a:xfrm>
          <a:prstGeom prst="rect">
            <a:avLst/>
          </a:prstGeom>
          <a:gradFill flip="none" rotWithShape="1">
            <a:gsLst>
              <a:gs pos="11000">
                <a:srgbClr val="0876D3"/>
              </a:gs>
              <a:gs pos="100000">
                <a:srgbClr val="CA18B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20624" y="34747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gradFill>
                  <a:gsLst>
                    <a:gs pos="0">
                      <a:srgbClr val="0078D4"/>
                    </a:gs>
                    <a:gs pos="100000">
                      <a:srgbClr val="C73ECC"/>
                    </a:gs>
                  </a:gsLst>
                  <a:lin ang="0" scaled="0"/>
                </a:gradFill>
                <a:latin typeface="Segoe UI Variable Display Semibold"/>
              </a:rPr>
              <a:t>Anexo · Diagramas de secuencia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21792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egoe UI Variable Display Semibold"/>
              </a:rPr>
              <a:t>Weather Assistant (LangChain)</a:t>
            </a:r>
          </a:p>
        </p:txBody>
      </p:sp>
      <p:pic>
        <p:nvPicPr>
          <p:cNvPr id="10" name="Picture 9" descr="seq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92840" cy="4509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ec632a0-1bd0-4125-8c6d-d2b199a1beac" xsi:nil="true"/>
    <_ip_UnifiedCompliancePolicyUIAction xmlns="http://schemas.microsoft.com/sharepoint/v3" xsi:nil="true"/>
    <Notes xmlns="5b27bcf2-d2a5-4921-b0b8-d8444e972c96" xsi:nil="true"/>
    <Status xmlns="5b27bcf2-d2a5-4921-b0b8-d8444e972c96" xsi:nil="true"/>
    <lcf76f155ced4ddcb4097134ff3c332f xmlns="5b27bcf2-d2a5-4921-b0b8-d8444e972c96">
      <Terms xmlns="http://schemas.microsoft.com/office/infopath/2007/PartnerControls"/>
    </lcf76f155ced4ddcb4097134ff3c332f>
    <Category xmlns="5b27bcf2-d2a5-4921-b0b8-d8444e972c96" xsi:nil="true"/>
    <_ip_UnifiedCompliancePolicyProperties xmlns="http://schemas.microsoft.com/sharepoint/v3" xsi:nil="true"/>
    <Recentasof xmlns="5b27bcf2-d2a5-4921-b0b8-d8444e972c96" xsi:nil="true"/>
    <About xmlns="5b27bcf2-d2a5-4921-b0b8-d8444e972c9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218A59F3A1524FAB2A29160B556249" ma:contentTypeVersion="25" ma:contentTypeDescription="Create a new document." ma:contentTypeScope="" ma:versionID="df470fef5ce8d86442f70a483027916e">
  <xsd:schema xmlns:xsd="http://www.w3.org/2001/XMLSchema" xmlns:xs="http://www.w3.org/2001/XMLSchema" xmlns:p="http://schemas.microsoft.com/office/2006/metadata/properties" xmlns:ns1="http://schemas.microsoft.com/sharepoint/v3" xmlns:ns2="5b27bcf2-d2a5-4921-b0b8-d8444e972c96" xmlns:ns3="9ec632a0-1bd0-4125-8c6d-d2b199a1beac" targetNamespace="http://schemas.microsoft.com/office/2006/metadata/properties" ma:root="true" ma:fieldsID="0c6136505bd326b7b27eedfb1d2886a1" ns1:_="" ns2:_="" ns3:_="">
    <xsd:import namespace="http://schemas.microsoft.com/sharepoint/v3"/>
    <xsd:import namespace="5b27bcf2-d2a5-4921-b0b8-d8444e972c96"/>
    <xsd:import namespace="9ec632a0-1bd0-4125-8c6d-d2b199a1beac"/>
    <xsd:element name="properties">
      <xsd:complexType>
        <xsd:sequence>
          <xsd:element name="documentManagement">
            <xsd:complexType>
              <xsd:all>
                <xsd:element ref="ns1:_ip_UnifiedCompliancePolicyProperties" minOccurs="0"/>
                <xsd:element ref="ns1:_ip_UnifiedCompliancePolicyUIAc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Status" minOccurs="0"/>
                <xsd:element ref="ns2:Category" minOccurs="0"/>
                <xsd:element ref="ns2:Recentasof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About" minOccurs="0"/>
                <xsd:element ref="ns2:Notes" minOccurs="0"/>
                <xsd:element ref="ns2:MediaServiceLocation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27bcf2-d2a5-4921-b0b8-d8444e972c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Status" ma:index="16" nillable="true" ma:displayName="Status" ma:format="Dropdown" ma:internalName="Status">
      <xsd:simpleType>
        <xsd:restriction base="dms:Choice">
          <xsd:enumeration value="Current"/>
          <xsd:enumeration value="Outdated"/>
          <xsd:enumeration value="WIP"/>
        </xsd:restriction>
      </xsd:simpleType>
    </xsd:element>
    <xsd:element name="Category" ma:index="17" nillable="true" ma:displayName="Category" ma:format="Dropdown" ma:internalName="Category">
      <xsd:simpleType>
        <xsd:restriction base="dms:Choice">
          <xsd:enumeration value="Analysts"/>
          <xsd:enumeration value="Budget"/>
          <xsd:enumeration value="Reporting"/>
          <xsd:enumeration value="Planning"/>
          <xsd:enumeration value="Reseach"/>
          <xsd:enumeration value="Resource"/>
          <xsd:enumeration value="Social"/>
          <xsd:enumeration value="Web"/>
        </xsd:restriction>
      </xsd:simpleType>
    </xsd:element>
    <xsd:element name="Recentasof" ma:index="18" nillable="true" ma:displayName="Recent as of" ma:format="DateOnly" ma:internalName="Recentasof">
      <xsd:simpleType>
        <xsd:restriction base="dms:DateTime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Text"/>
      </xsd:simpleType>
    </xsd:element>
    <xsd:element name="About" ma:index="28" nillable="true" ma:displayName="About" ma:format="Dropdown" ma:internalName="About">
      <xsd:simpleType>
        <xsd:restriction base="dms:Text">
          <xsd:maxLength value="255"/>
        </xsd:restriction>
      </xsd:simpleType>
    </xsd:element>
    <xsd:element name="Notes" ma:index="29" nillable="true" ma:displayName="Notes" ma:format="Dropdown" ma:internalName="Notes">
      <xsd:simpleType>
        <xsd:restriction base="dms:Note">
          <xsd:maxLength value="255"/>
        </xsd:restriction>
      </xsd:simpleType>
    </xsd:element>
    <xsd:element name="MediaServiceLocation" ma:index="30" nillable="true" ma:displayName="Location" ma:indexed="true" ma:internalName="MediaServiceLocation" ma:readOnly="true">
      <xsd:simpleType>
        <xsd:restriction base="dms:Text"/>
      </xsd:simpleType>
    </xsd:element>
    <xsd:element name="HasDigitalSignature" ma:index="31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2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c632a0-1bd0-4125-8c6d-d2b199a1beac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c675e44-b45a-4e38-95bd-fe3b15c6a8a8}" ma:internalName="TaxCatchAll" ma:showField="CatchAllData" ma:web="9ec632a0-1bd0-4125-8c6d-d2b199a1bea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531AB98-52DF-4511-81F9-0B4026D5883D}">
  <ds:schemaRefs>
    <ds:schemaRef ds:uri="http://www.w3.org/XML/1998/namespace"/>
    <ds:schemaRef ds:uri="http://schemas.microsoft.com/office/infopath/2007/PartnerControls"/>
    <ds:schemaRef ds:uri="http://schemas.microsoft.com/sharepoint/v3"/>
    <ds:schemaRef ds:uri="http://schemas.microsoft.com/office/2006/documentManagement/types"/>
    <ds:schemaRef ds:uri="http://purl.org/dc/terms/"/>
    <ds:schemaRef ds:uri="5b27bcf2-d2a5-4921-b0b8-d8444e972c96"/>
    <ds:schemaRef ds:uri="http://purl.org/dc/dcmitype/"/>
    <ds:schemaRef ds:uri="http://purl.org/dc/elements/1.1/"/>
    <ds:schemaRef ds:uri="http://schemas.openxmlformats.org/package/2006/metadata/core-properties"/>
    <ds:schemaRef ds:uri="9ec632a0-1bd0-4125-8c6d-d2b199a1beac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69623E98-4B34-4049-9885-22C7F19EE865}">
  <ds:schemaRefs>
    <ds:schemaRef ds:uri="5b27bcf2-d2a5-4921-b0b8-d8444e972c96"/>
    <ds:schemaRef ds:uri="9ec632a0-1bd0-4125-8c6d-d2b199a1bea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E844B2A-1827-4F69-B40E-BD27D8993E0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3408</Words>
  <Application>Microsoft Office PowerPoint</Application>
  <PresentationFormat>Widescreen</PresentationFormat>
  <Paragraphs>432</Paragraphs>
  <Slides>31</Slides>
  <Notes>22</Notes>
  <HiddenSlides>0</HiddenSlides>
  <MMClips>1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8" baseType="lpstr">
      <vt:lpstr>Arial,Sans-Serif</vt:lpstr>
      <vt:lpstr>Aptos</vt:lpstr>
      <vt:lpstr>Aptos Display</vt:lpstr>
      <vt:lpstr>Arial</vt:lpstr>
      <vt:lpstr>Calibri</vt:lpstr>
      <vt:lpstr>Segoe Sans Display</vt:lpstr>
      <vt:lpstr>Segoe Sans Display Semibold</vt:lpstr>
      <vt:lpstr>Segoe Sans Display Semilight</vt:lpstr>
      <vt:lpstr>Segoe UI</vt:lpstr>
      <vt:lpstr>Segoe UI Semibold</vt:lpstr>
      <vt:lpstr>Segoe UI Semilight</vt:lpstr>
      <vt:lpstr>Segoe UI Variable Display</vt:lpstr>
      <vt:lpstr>Segoe UI Variable Display Semib</vt:lpstr>
      <vt:lpstr>Segoe UI Variable Display Semibold</vt:lpstr>
      <vt:lpstr>Segoe UI Variable Text</vt:lpstr>
      <vt:lpstr>Wingdings</vt:lpstr>
      <vt:lpstr>Office Theme</vt:lpstr>
      <vt:lpstr>How to use this deck</vt:lpstr>
      <vt:lpstr>Copilot Studio Futures</vt:lpstr>
      <vt:lpstr>Legal notice</vt:lpstr>
      <vt:lpstr>One studio to redesign business processes</vt:lpstr>
      <vt:lpstr>Copilot Studio pillars</vt:lpstr>
      <vt:lpstr>Build solutions faster and more naturally</vt:lpstr>
      <vt:lpstr>Focus areas</vt:lpstr>
      <vt:lpstr>PowerPoint Presentation</vt:lpstr>
      <vt:lpstr>Workplace intelligence for your agents</vt:lpstr>
      <vt:lpstr>PowerPoint Presentation</vt:lpstr>
      <vt:lpstr>PowerPoint Presentation</vt:lpstr>
      <vt:lpstr>Transform complete business processes</vt:lpstr>
      <vt:lpstr>Focus areas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Build with confidence at enterprise scale</vt:lpstr>
      <vt:lpstr>Focus areas</vt:lpstr>
      <vt:lpstr>PowerPoint Presentation</vt:lpstr>
      <vt:lpstr>Connector quality improvements in Copilot Studio</vt:lpstr>
      <vt:lpstr>Quality improvements in Copilot Studio</vt:lpstr>
      <vt:lpstr>PowerPoint Presentation</vt:lpstr>
      <vt:lpstr>Focus areas</vt:lpstr>
      <vt:lpstr>PowerPoint Presentation</vt:lpstr>
      <vt:lpstr>Scale value with transparency and control</vt:lpstr>
      <vt:lpstr>Scale value with transparency and control</vt:lpstr>
      <vt:lpstr>Scale value with transparency and control</vt:lpstr>
      <vt:lpstr>Scale value with transparency and control</vt:lpstr>
      <vt:lpstr>Scale value with transparency and control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Agentes externos en M365 Copilot</dc:title>
  <dc:creator/>
  <cp:lastModifiedBy/>
  <cp:revision>3</cp:revision>
  <dcterms:created xsi:type="dcterms:W3CDTF">2026-01-22T21:15:39Z</dcterms:created>
  <dcterms:modified xsi:type="dcterms:W3CDTF">2026-10-06T17:21:44Z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0x01010086218A59F3A1524FAB2A29160B556249</vt:lpwstr>
  </property>
  <property fmtid="{D5CDD505-2E9C-101B-9397-08002B2CF9AE}" pid="3" name="MediaServiceImageTags">
    <vt:lpwstr/>
  </property>
</Properties>
</file>